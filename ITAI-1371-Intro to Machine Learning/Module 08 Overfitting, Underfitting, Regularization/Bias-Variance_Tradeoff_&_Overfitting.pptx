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40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85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8454" y="0"/>
            <a:ext cx="51270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kern="0" spc="3" dirty="0">
                <a:solidFill>
                  <a:srgbClr val="888888"/>
                </a:solidFill>
              </a:rPr>
              <a:t>Module 08</a:t>
            </a:r>
            <a:endParaRPr lang="en-US" sz="1269" dirty="0"/>
          </a:p>
        </p:txBody>
      </p:sp>
      <p:sp>
        <p:nvSpPr>
          <p:cNvPr id="4" name="Text 1"/>
          <p:cNvSpPr/>
          <p:nvPr/>
        </p:nvSpPr>
        <p:spPr>
          <a:xfrm>
            <a:off x="2008454" y="376833"/>
            <a:ext cx="512706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00FFFF"/>
                </a:solidFill>
              </a:rPr>
              <a:t>Bias-Variance
Tradeoff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2008454" y="1705570"/>
            <a:ext cx="51270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kern="0" spc="1" dirty="0">
                <a:solidFill>
                  <a:srgbClr val="FF00FF"/>
                </a:solidFill>
              </a:rPr>
              <a:t>The Goldilocks Principle of Machine Learning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3143222" y="2361009"/>
            <a:ext cx="2857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427" y="2361009"/>
            <a:ext cx="1041062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52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Goldilocks Problem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Why do models fail?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864519"/>
            <a:ext cx="2571750" cy="2663140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2078831"/>
            <a:ext cx="2143125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410" dirty="0">
                <a:solidFill>
                  <a:srgbClr val="FFFFFF"/>
                </a:solidFill>
              </a:rPr>
              <a:t>❄️</a:t>
            </a:r>
            <a:endParaRPr lang="en-US" sz="4410" dirty="0"/>
          </a:p>
        </p:txBody>
      </p:sp>
      <p:sp>
        <p:nvSpPr>
          <p:cNvPr id="7" name="Text 4"/>
          <p:cNvSpPr/>
          <p:nvPr/>
        </p:nvSpPr>
        <p:spPr>
          <a:xfrm>
            <a:off x="642938" y="3071813"/>
            <a:ext cx="2143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FFFF"/>
                </a:solidFill>
              </a:rPr>
              <a:t>Too Simple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642938" y="3564731"/>
            <a:ext cx="21431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Misses important patterns.
(Underfitting)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3286125" y="1864519"/>
            <a:ext cx="2571750" cy="2634565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0438" y="2198824"/>
            <a:ext cx="2143125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410" dirty="0">
                <a:solidFill>
                  <a:srgbClr val="FFFFFF"/>
                </a:solidFill>
              </a:rPr>
              <a:t>🥣</a:t>
            </a:r>
            <a:endParaRPr lang="en-US" sz="4410" dirty="0"/>
          </a:p>
        </p:txBody>
      </p:sp>
      <p:sp>
        <p:nvSpPr>
          <p:cNvPr id="11" name="Text 8"/>
          <p:cNvSpPr/>
          <p:nvPr/>
        </p:nvSpPr>
        <p:spPr>
          <a:xfrm>
            <a:off x="3500438" y="3191805"/>
            <a:ext cx="2143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FF00"/>
                </a:solidFill>
              </a:rPr>
              <a:t>Just Right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3500438" y="3684724"/>
            <a:ext cx="2143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Captures real patterns, ignores noise.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6143625" y="1864519"/>
            <a:ext cx="2571750" cy="2634565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7938" y="2198824"/>
            <a:ext cx="2143125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410" dirty="0">
                <a:solidFill>
                  <a:srgbClr val="FFFFFF"/>
                </a:solidFill>
              </a:rPr>
              <a:t>🔥</a:t>
            </a:r>
            <a:endParaRPr lang="en-US" sz="4410" dirty="0"/>
          </a:p>
        </p:txBody>
      </p:sp>
      <p:sp>
        <p:nvSpPr>
          <p:cNvPr id="15" name="Text 12"/>
          <p:cNvSpPr/>
          <p:nvPr/>
        </p:nvSpPr>
        <p:spPr>
          <a:xfrm>
            <a:off x="6357938" y="3191805"/>
            <a:ext cx="2143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Too Complex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6357938" y="3684724"/>
            <a:ext cx="2143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Memorizes random noise.
(Overfitting)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28625" y="4784834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The Goal: Find the </a:t>
            </a:r>
            <a:r>
              <a:rPr lang="en-US" sz="1397" b="1" dirty="0">
                <a:solidFill>
                  <a:srgbClr val="00FF00"/>
                </a:solidFill>
              </a:rPr>
              <a:t>Sweet Spot</a:t>
            </a: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62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Underfitting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The Ruler &amp; The Circle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793081"/>
            <a:ext cx="11444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85940" y="1793081"/>
            <a:ext cx="367174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Model is </a:t>
            </a:r>
            <a:r>
              <a:rPr lang="en-US" sz="1397" b="1" dirty="0">
                <a:solidFill>
                  <a:srgbClr val="FF00FF"/>
                </a:solidFill>
              </a:rPr>
              <a:t>too simple</a:t>
            </a:r>
            <a:r>
              <a:rPr lang="en-US" sz="1486" dirty="0">
                <a:solidFill>
                  <a:srgbClr val="FFFFFF"/>
                </a:solidFill>
              </a:rPr>
              <a:t> to capture the underlying pattern.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28625" y="2575992"/>
            <a:ext cx="11444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85940" y="2575992"/>
            <a:ext cx="367174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Like trying to draw a circle using only a straight ruler.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28625" y="3358902"/>
            <a:ext cx="11444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85940" y="3358902"/>
            <a:ext cx="240671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Misses the signal entirely.</a:t>
            </a:r>
            <a:endParaRPr lang="en-US" sz="1486" dirty="0"/>
          </a:p>
        </p:txBody>
      </p:sp>
      <p:sp>
        <p:nvSpPr>
          <p:cNvPr id="11" name="Shape 8"/>
          <p:cNvSpPr/>
          <p:nvPr/>
        </p:nvSpPr>
        <p:spPr>
          <a:xfrm>
            <a:off x="428625" y="3821795"/>
            <a:ext cx="3929063" cy="1088696"/>
          </a:xfrm>
          <a:prstGeom prst="rect">
            <a:avLst/>
          </a:prstGeom>
          <a:solidFill>
            <a:srgbClr val="FF0000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821795"/>
            <a:ext cx="42863" cy="108869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964670"/>
            <a:ext cx="364331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0000"/>
                </a:solidFill>
              </a:rPr>
              <a:t>Symptoms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71500" y="4310416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Training Score: </a:t>
            </a:r>
            <a:r>
              <a:rPr lang="en-US" sz="987" b="1" dirty="0">
                <a:solidFill>
                  <a:srgbClr val="FFFFFF"/>
                </a:solidFill>
              </a:rPr>
              <a:t>LOW</a:t>
            </a:r>
            <a:r>
              <a:rPr lang="en-US" sz="1050" dirty="0">
                <a:solidFill>
                  <a:srgbClr val="DDDDDD"/>
                </a:solidFill>
              </a:rPr>
              <a:t>
 Test Score: </a:t>
            </a:r>
            <a:r>
              <a:rPr lang="en-US" sz="987" b="1" dirty="0">
                <a:solidFill>
                  <a:srgbClr val="FFFFFF"/>
                </a:solidFill>
              </a:rPr>
              <a:t>LOW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06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00FF"/>
                </a:solidFill>
              </a:rPr>
              <a:t>Overfitting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The Memorization Trap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864519"/>
            <a:ext cx="114440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85940" y="1864519"/>
            <a:ext cx="3671748" cy="58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Model is </a:t>
            </a:r>
            <a:r>
              <a:rPr lang="en-US" sz="1397" b="1" dirty="0">
                <a:solidFill>
                  <a:srgbClr val="00FFFF"/>
                </a:solidFill>
              </a:rPr>
              <a:t>too complex</a:t>
            </a:r>
            <a:r>
              <a:rPr lang="en-US" sz="1486" dirty="0">
                <a:solidFill>
                  <a:srgbClr val="FFFFFF"/>
                </a:solidFill>
              </a:rPr>
              <a:t> and memorizes noise.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28625" y="2558858"/>
            <a:ext cx="114440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85940" y="2558858"/>
            <a:ext cx="3671748" cy="58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Like a student who memorizes answers but fails the exam.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28625" y="3253197"/>
            <a:ext cx="114440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85940" y="3253197"/>
            <a:ext cx="2897572" cy="29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Fails to generalize to new data.</a:t>
            </a:r>
            <a:endParaRPr lang="en-US" sz="1486" dirty="0"/>
          </a:p>
        </p:txBody>
      </p:sp>
      <p:sp>
        <p:nvSpPr>
          <p:cNvPr id="11" name="Shape 8"/>
          <p:cNvSpPr/>
          <p:nvPr/>
        </p:nvSpPr>
        <p:spPr>
          <a:xfrm>
            <a:off x="428625" y="3686091"/>
            <a:ext cx="3929063" cy="948668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686091"/>
            <a:ext cx="42863" cy="94866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3" name="Text 10"/>
          <p:cNvSpPr/>
          <p:nvPr/>
        </p:nvSpPr>
        <p:spPr>
          <a:xfrm>
            <a:off x="542925" y="3800391"/>
            <a:ext cx="3700463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Symptoms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42925" y="4106121"/>
            <a:ext cx="370046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Training Score: </a:t>
            </a:r>
            <a:r>
              <a:rPr lang="en-US" sz="987" b="1" dirty="0">
                <a:solidFill>
                  <a:srgbClr val="00FF00"/>
                </a:solidFill>
              </a:rPr>
              <a:t>VERY HIGH (99%)</a:t>
            </a:r>
            <a:r>
              <a:rPr lang="en-US" sz="1050" dirty="0">
                <a:solidFill>
                  <a:srgbClr val="DDDDDD"/>
                </a:solidFill>
              </a:rPr>
              <a:t>
 Test Score: </a:t>
            </a:r>
            <a:r>
              <a:rPr lang="en-US" sz="987" b="1" dirty="0">
                <a:solidFill>
                  <a:srgbClr val="FF0000"/>
                </a:solidFill>
              </a:rPr>
              <a:t>LOW (60%)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Sweet Spot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Balancing Bias and Variance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721644"/>
            <a:ext cx="3857625" cy="43576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FF00"/>
                </a:solidFill>
              </a:rPr>
              <a:t>The Goal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2328863"/>
            <a:ext cx="3857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High performance on </a:t>
            </a:r>
            <a:r>
              <a:rPr lang="en-US" sz="1397" b="1" dirty="0">
                <a:solidFill>
                  <a:srgbClr val="FFFFFF"/>
                </a:solidFill>
              </a:rPr>
              <a:t>Training Data</a:t>
            </a: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28625" y="2780342"/>
            <a:ext cx="3857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High performance on </a:t>
            </a:r>
            <a:r>
              <a:rPr lang="en-US" sz="1397" b="1" dirty="0">
                <a:solidFill>
                  <a:srgbClr val="FFFFFF"/>
                </a:solidFill>
              </a:rPr>
              <a:t>Test Data</a:t>
            </a: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28625" y="3231821"/>
            <a:ext cx="3857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This is called </a:t>
            </a:r>
            <a:r>
              <a:rPr lang="en-US" sz="1397" b="1" dirty="0">
                <a:solidFill>
                  <a:srgbClr val="00FF00"/>
                </a:solidFill>
              </a:rPr>
              <a:t>Generalization</a:t>
            </a: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857750" y="1721644"/>
            <a:ext cx="3857625" cy="43576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The Reality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857750" y="2328863"/>
            <a:ext cx="38576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You cannot minimize both simultaneously.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4857750" y="3060371"/>
            <a:ext cx="3857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Reducing Bias often increases Variance.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4857750" y="3511851"/>
            <a:ext cx="3857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Reducing Variance often increases Bias.</a:t>
            </a:r>
            <a:endParaRPr lang="en-US" sz="1486" dirty="0"/>
          </a:p>
        </p:txBody>
      </p:sp>
      <p:sp>
        <p:nvSpPr>
          <p:cNvPr id="13" name="Shape 10"/>
          <p:cNvSpPr/>
          <p:nvPr/>
        </p:nvSpPr>
        <p:spPr>
          <a:xfrm>
            <a:off x="428625" y="4170164"/>
            <a:ext cx="8286750" cy="6161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4170164"/>
            <a:ext cx="42863" cy="61614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00075" y="4341614"/>
            <a:ext cx="79438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Strategy:</a:t>
            </a:r>
            <a:r>
              <a:rPr lang="en-US" sz="1486" dirty="0">
                <a:solidFill>
                  <a:srgbClr val="DDDDDD"/>
                </a:solidFill>
              </a:rPr>
              <a:t> Find the optimal point where Total Error is minimized.</a:t>
            </a:r>
            <a:endParaRPr lang="en-US" sz="13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Visual Comparison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Which model wins?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793081"/>
            <a:ext cx="2571750" cy="29217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793081"/>
            <a:ext cx="2571750" cy="5715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2007394"/>
            <a:ext cx="2143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FF"/>
                </a:solidFill>
              </a:rPr>
              <a:t>Model A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642938" y="235565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Straight Line"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2938" y="2945904"/>
            <a:ext cx="6436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Training: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2464650" y="2945904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70%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642938" y="3310235"/>
            <a:ext cx="573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Testing: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2464650" y="3310235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68%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642938" y="4070152"/>
            <a:ext cx="2143125" cy="43041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TOO SIMPLE</a:t>
            </a:r>
            <a:endParaRPr lang="en-US" sz="1397" dirty="0"/>
          </a:p>
        </p:txBody>
      </p:sp>
      <p:sp>
        <p:nvSpPr>
          <p:cNvPr id="14" name="Shape 11"/>
          <p:cNvSpPr/>
          <p:nvPr/>
        </p:nvSpPr>
        <p:spPr>
          <a:xfrm>
            <a:off x="3286125" y="1793081"/>
            <a:ext cx="2571750" cy="29217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2"/>
          <p:cNvSpPr/>
          <p:nvPr/>
        </p:nvSpPr>
        <p:spPr>
          <a:xfrm>
            <a:off x="3286125" y="1793081"/>
            <a:ext cx="2571750" cy="57150"/>
          </a:xfrm>
          <a:prstGeom prst="rect">
            <a:avLst/>
          </a:prstGeom>
          <a:solidFill>
            <a:srgbClr val="00FF00"/>
          </a:solidFill>
          <a:ln/>
        </p:spPr>
      </p:sp>
      <p:sp>
        <p:nvSpPr>
          <p:cNvPr id="16" name="Text 13"/>
          <p:cNvSpPr/>
          <p:nvPr/>
        </p:nvSpPr>
        <p:spPr>
          <a:xfrm>
            <a:off x="3500438" y="2007394"/>
            <a:ext cx="2143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00"/>
                </a:solidFill>
              </a:rPr>
              <a:t>Model B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3500438" y="235565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Smooth Curve"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00438" y="2945904"/>
            <a:ext cx="6436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Training: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5322150" y="2945904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85%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3500438" y="3310235"/>
            <a:ext cx="573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Testing: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5322150" y="3310235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83%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3500438" y="4070152"/>
            <a:ext cx="2143125" cy="43041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WINNER</a:t>
            </a:r>
            <a:endParaRPr lang="en-US" sz="1397" dirty="0"/>
          </a:p>
        </p:txBody>
      </p:sp>
      <p:sp>
        <p:nvSpPr>
          <p:cNvPr id="23" name="Shape 20"/>
          <p:cNvSpPr/>
          <p:nvPr/>
        </p:nvSpPr>
        <p:spPr>
          <a:xfrm>
            <a:off x="6143625" y="1793081"/>
            <a:ext cx="2571750" cy="29217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1"/>
          <p:cNvSpPr/>
          <p:nvPr/>
        </p:nvSpPr>
        <p:spPr>
          <a:xfrm>
            <a:off x="6143625" y="1793081"/>
            <a:ext cx="2571750" cy="5715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5" name="Text 22"/>
          <p:cNvSpPr/>
          <p:nvPr/>
        </p:nvSpPr>
        <p:spPr>
          <a:xfrm>
            <a:off x="6357938" y="2007394"/>
            <a:ext cx="2143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Model C</a:t>
            </a:r>
            <a:endParaRPr lang="en-US" sz="1602" dirty="0"/>
          </a:p>
        </p:txBody>
      </p:sp>
      <p:sp>
        <p:nvSpPr>
          <p:cNvPr id="26" name="Text 23"/>
          <p:cNvSpPr/>
          <p:nvPr/>
        </p:nvSpPr>
        <p:spPr>
          <a:xfrm>
            <a:off x="6357938" y="235565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Zig-Zag"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357938" y="2945904"/>
            <a:ext cx="6436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Training:</a:t>
            </a:r>
            <a:endParaRPr lang="en-US" sz="1159" dirty="0"/>
          </a:p>
        </p:txBody>
      </p:sp>
      <p:sp>
        <p:nvSpPr>
          <p:cNvPr id="28" name="Text 25"/>
          <p:cNvSpPr/>
          <p:nvPr/>
        </p:nvSpPr>
        <p:spPr>
          <a:xfrm>
            <a:off x="8179650" y="2945904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99%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6357938" y="3310235"/>
            <a:ext cx="573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Testing:</a:t>
            </a:r>
            <a:endParaRPr lang="en-US" sz="1159" dirty="0"/>
          </a:p>
        </p:txBody>
      </p:sp>
      <p:sp>
        <p:nvSpPr>
          <p:cNvPr id="30" name="Text 27"/>
          <p:cNvSpPr/>
          <p:nvPr/>
        </p:nvSpPr>
        <p:spPr>
          <a:xfrm>
            <a:off x="8179650" y="3310235"/>
            <a:ext cx="3214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00"/>
                </a:solidFill>
              </a:rPr>
              <a:t>55%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357938" y="4070152"/>
            <a:ext cx="2143125" cy="43041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TOO COMPLEX</a:t>
            </a:r>
            <a:endParaRPr lang="en-US" sz="13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81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Real-World Example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Predicting House Prices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2035969"/>
            <a:ext cx="2571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Degree 1 (Linear)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2419945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Straight Line"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2757488"/>
            <a:ext cx="257175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Assumes price increases linearly with size. Misses the fact that prices plateau or accelerate.
</a:t>
            </a:r>
            <a:r>
              <a:rPr lang="en-US" sz="1090" b="1" dirty="0">
                <a:solidFill>
                  <a:srgbClr val="00FFFF"/>
                </a:solidFill>
              </a:rPr>
              <a:t>Result: Underfitting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3286125" y="2035969"/>
            <a:ext cx="2571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Degree 3 (Cubic)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286125" y="2419945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Smooth Curve"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86125" y="2757488"/>
            <a:ext cx="257175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Captures the natural market trend. Follows the data without reacting to every outlier.
</a:t>
            </a:r>
            <a:r>
              <a:rPr lang="en-US" sz="1090" b="1" dirty="0">
                <a:solidFill>
                  <a:srgbClr val="00FF00"/>
                </a:solidFill>
              </a:rPr>
              <a:t>Result: Good Fit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6143625" y="2035969"/>
            <a:ext cx="2571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Degree 15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6143625" y="2419945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"The Wild Wiggle"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43625" y="2757488"/>
            <a:ext cx="257175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Curve oscillates wildly to hit every single house price exactly. Predicts negative prices in between.
</a:t>
            </a:r>
            <a:r>
              <a:rPr lang="en-US" sz="1090" b="1" dirty="0">
                <a:solidFill>
                  <a:srgbClr val="FF00FF"/>
                </a:solidFill>
              </a:rPr>
              <a:t>Result: Overfitting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428625" y="4221956"/>
            <a:ext cx="8286750" cy="587573"/>
          </a:xfrm>
          <a:prstGeom prst="rect">
            <a:avLst/>
          </a:prstGeom>
          <a:solidFill>
            <a:srgbClr val="00FFFF">
              <a:alpha val="5000"/>
            </a:srgbClr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4364831"/>
            <a:ext cx="80010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Lesson:</a:t>
            </a:r>
            <a:r>
              <a:rPr lang="en-US" sz="1486" dirty="0">
                <a:solidFill>
                  <a:srgbClr val="FFFFFF"/>
                </a:solidFill>
              </a:rPr>
              <a:t> More complexity ≠ Better model. The simplest model that works is best.</a:t>
            </a:r>
            <a:endParaRPr lang="en-US" sz="139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24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Core Tension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Flexibility vs. Generalization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978819"/>
            <a:ext cx="3929063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00FFFF"/>
                </a:solidFill>
              </a:rPr>
              <a:t>Less Flexible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428625" y="2668191"/>
            <a:ext cx="85725" cy="85725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582466"/>
            <a:ext cx="3929063" cy="56005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Makes </a:t>
            </a:r>
            <a:r>
              <a:rPr lang="en-US" sz="1397" b="1" dirty="0">
                <a:solidFill>
                  <a:srgbClr val="FFFFFF"/>
                </a:solidFill>
              </a:rPr>
              <a:t>strong assumptions</a:t>
            </a:r>
            <a:r>
              <a:rPr lang="en-US" sz="1486" dirty="0">
                <a:solidFill>
                  <a:srgbClr val="DDDDDD"/>
                </a:solidFill>
              </a:rPr>
              <a:t> about data shape.</a:t>
            </a:r>
            <a:endParaRPr lang="en-US" sz="1486" dirty="0"/>
          </a:p>
        </p:txBody>
      </p:sp>
      <p:sp>
        <p:nvSpPr>
          <p:cNvPr id="8" name="Shape 5"/>
          <p:cNvSpPr/>
          <p:nvPr/>
        </p:nvSpPr>
        <p:spPr>
          <a:xfrm>
            <a:off x="428625" y="3406843"/>
            <a:ext cx="85725" cy="85725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3321118"/>
            <a:ext cx="3929063" cy="28002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More stable predictions.</a:t>
            </a:r>
            <a:endParaRPr lang="en-US" sz="1486" dirty="0"/>
          </a:p>
        </p:txBody>
      </p:sp>
      <p:sp>
        <p:nvSpPr>
          <p:cNvPr id="10" name="Shape 7"/>
          <p:cNvSpPr/>
          <p:nvPr/>
        </p:nvSpPr>
        <p:spPr>
          <a:xfrm>
            <a:off x="428625" y="3865466"/>
            <a:ext cx="85725" cy="85725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3779741"/>
            <a:ext cx="3929063" cy="28002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Risk: </a:t>
            </a:r>
            <a:r>
              <a:rPr lang="en-US" sz="1397" b="1" dirty="0">
                <a:solidFill>
                  <a:srgbClr val="FFFFFF"/>
                </a:solidFill>
              </a:rPr>
              <a:t>Underfitting</a:t>
            </a:r>
            <a:r>
              <a:rPr lang="en-US" sz="1486" dirty="0">
                <a:solidFill>
                  <a:srgbClr val="DDDDDD"/>
                </a:solidFill>
              </a:rPr>
              <a:t> (High Bias).</a:t>
            </a:r>
            <a:endParaRPr lang="en-US" sz="1486" dirty="0"/>
          </a:p>
        </p:txBody>
      </p:sp>
      <p:sp>
        <p:nvSpPr>
          <p:cNvPr id="12" name="Shape 9"/>
          <p:cNvSpPr/>
          <p:nvPr/>
        </p:nvSpPr>
        <p:spPr>
          <a:xfrm>
            <a:off x="4286250" y="2350461"/>
            <a:ext cx="571500" cy="571500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0" y="2350461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VS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786313" y="1978819"/>
            <a:ext cx="3929063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00FF"/>
                </a:solidFill>
              </a:rPr>
              <a:t>More Flexible</a:t>
            </a:r>
            <a:endParaRPr lang="en-US" sz="2016" dirty="0"/>
          </a:p>
        </p:txBody>
      </p:sp>
      <p:sp>
        <p:nvSpPr>
          <p:cNvPr id="15" name="Shape 12"/>
          <p:cNvSpPr/>
          <p:nvPr/>
        </p:nvSpPr>
        <p:spPr>
          <a:xfrm>
            <a:off x="4786313" y="2668191"/>
            <a:ext cx="85725" cy="85725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6" name="Text 13"/>
          <p:cNvSpPr/>
          <p:nvPr/>
        </p:nvSpPr>
        <p:spPr>
          <a:xfrm>
            <a:off x="4786313" y="2582466"/>
            <a:ext cx="3929063" cy="28002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Can fit </a:t>
            </a:r>
            <a:r>
              <a:rPr lang="en-US" sz="1397" b="1" dirty="0">
                <a:solidFill>
                  <a:srgbClr val="FFFFFF"/>
                </a:solidFill>
              </a:rPr>
              <a:t>complex patterns</a:t>
            </a:r>
            <a:r>
              <a:rPr lang="en-US" sz="1486" dirty="0">
                <a:solidFill>
                  <a:srgbClr val="DDDDDD"/>
                </a:solidFill>
              </a:rPr>
              <a:t> and wiggles.</a:t>
            </a:r>
            <a:endParaRPr lang="en-US" sz="1486" dirty="0"/>
          </a:p>
        </p:txBody>
      </p:sp>
      <p:sp>
        <p:nvSpPr>
          <p:cNvPr id="17" name="Shape 14"/>
          <p:cNvSpPr/>
          <p:nvPr/>
        </p:nvSpPr>
        <p:spPr>
          <a:xfrm>
            <a:off x="4786313" y="3126814"/>
            <a:ext cx="85725" cy="85725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3041089"/>
            <a:ext cx="3929063" cy="28002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Requires more data to tame.</a:t>
            </a:r>
            <a:endParaRPr lang="en-US" sz="1486" dirty="0"/>
          </a:p>
        </p:txBody>
      </p:sp>
      <p:sp>
        <p:nvSpPr>
          <p:cNvPr id="19" name="Shape 16"/>
          <p:cNvSpPr/>
          <p:nvPr/>
        </p:nvSpPr>
        <p:spPr>
          <a:xfrm>
            <a:off x="4786313" y="3585437"/>
            <a:ext cx="85725" cy="85725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4786313" y="3499712"/>
            <a:ext cx="3929063" cy="28002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Risk: </a:t>
            </a:r>
            <a:r>
              <a:rPr lang="en-US" sz="1397" b="1" dirty="0">
                <a:solidFill>
                  <a:srgbClr val="FFFFFF"/>
                </a:solidFill>
              </a:rPr>
              <a:t>Overfitting</a:t>
            </a:r>
            <a:r>
              <a:rPr lang="en-US" sz="1486" dirty="0">
                <a:solidFill>
                  <a:srgbClr val="DDDDDD"/>
                </a:solidFill>
              </a:rPr>
              <a:t> (High Variance).</a:t>
            </a:r>
            <a:endParaRPr lang="en-US" sz="1486" dirty="0"/>
          </a:p>
        </p:txBody>
      </p:sp>
      <p:sp>
        <p:nvSpPr>
          <p:cNvPr id="21" name="Text 18"/>
          <p:cNvSpPr/>
          <p:nvPr/>
        </p:nvSpPr>
        <p:spPr>
          <a:xfrm>
            <a:off x="428625" y="4381240"/>
            <a:ext cx="8286750" cy="46255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i="1" dirty="0">
                <a:solidFill>
                  <a:srgbClr val="888888"/>
                </a:solidFill>
              </a:rPr>
              <a:t>"The art of ML is choosing the right level of flexibility."</a:t>
            </a:r>
            <a:endParaRPr lang="en-US" sz="170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5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What is Bias?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Systematic Error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771525" y="1721644"/>
            <a:ext cx="79438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The error introduced by approximating a real-world problem with a </a:t>
            </a:r>
            <a:r>
              <a:rPr lang="en-US" sz="1808" b="1" dirty="0">
                <a:solidFill>
                  <a:srgbClr val="00FFFF"/>
                </a:solidFill>
              </a:rPr>
              <a:t>simplified model</a:t>
            </a:r>
            <a:r>
              <a:rPr lang="en-US" sz="1924" dirty="0">
                <a:solidFill>
                  <a:srgbClr val="FFFFFF"/>
                </a:solidFill>
              </a:rPr>
              <a:t>.</a:t>
            </a:r>
            <a:endParaRPr lang="en-US" sz="1924" dirty="0"/>
          </a:p>
        </p:txBody>
      </p:sp>
      <p:sp>
        <p:nvSpPr>
          <p:cNvPr id="6" name="Text 3"/>
          <p:cNvSpPr/>
          <p:nvPr/>
        </p:nvSpPr>
        <p:spPr>
          <a:xfrm>
            <a:off x="428625" y="2727461"/>
            <a:ext cx="126416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High Bias =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835665" y="2727461"/>
            <a:ext cx="36032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Underfitting (Model is too simple)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428625" y="3254313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888888"/>
                </a:solidFill>
              </a:rPr>
              <a:t>Common Biased Assumptions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3670436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42938" y="3670436"/>
            <a:ext cx="1651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Assuming data is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2294344" y="3670436"/>
            <a:ext cx="58768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00FFFF"/>
                </a:solidFill>
              </a:rPr>
              <a:t>Linear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2882029" y="3670436"/>
            <a:ext cx="162922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when it's curved.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428625" y="4029410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42938" y="4029410"/>
            <a:ext cx="10425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Using only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1685479" y="4029410"/>
            <a:ext cx="9433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00FFFF"/>
                </a:solidFill>
              </a:rPr>
              <a:t>2 features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2628816" y="4029410"/>
            <a:ext cx="207286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when 10 are relevant.</a:t>
            </a:r>
            <a:endParaRPr lang="en-US" sz="1486" dirty="0"/>
          </a:p>
        </p:txBody>
      </p:sp>
      <p:sp>
        <p:nvSpPr>
          <p:cNvPr id="17" name="Text 14"/>
          <p:cNvSpPr/>
          <p:nvPr/>
        </p:nvSpPr>
        <p:spPr>
          <a:xfrm>
            <a:off x="428625" y="4388383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42938" y="4388383"/>
            <a:ext cx="43787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Ignoring interaction effects between variables.</a:t>
            </a:r>
            <a:endParaRPr lang="en-US" sz="148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7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High Bias Scenario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Salary Prediction Trap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650206"/>
            <a:ext cx="3929063" cy="2946797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793081"/>
            <a:ext cx="3643313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Setup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2334220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Task: Predict Salary.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2717109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Input: </a:t>
            </a:r>
            <a:r>
              <a:rPr lang="en-US" sz="1193" b="1" dirty="0">
                <a:solidFill>
                  <a:srgbClr val="00FFFF"/>
                </a:solidFill>
              </a:rPr>
              <a:t>Only "Years of Experience"</a:t>
            </a:r>
            <a:r>
              <a:rPr lang="en-US" sz="1269" dirty="0">
                <a:solidFill>
                  <a:srgbClr val="DDDDDD"/>
                </a:solidFill>
              </a:rPr>
              <a:t>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571500" y="3099997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Model: Linear Regression.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71500" y="3482885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Assumption: Salary grows linearly forever.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4786313" y="1650206"/>
            <a:ext cx="3929063" cy="2946797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29188" y="1793081"/>
            <a:ext cx="3643313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Reality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886325" y="2119908"/>
            <a:ext cx="3667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Salary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8246762" y="4130873"/>
            <a:ext cx="325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Years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929188" y="4191595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Systematic Error: Misses the complexity.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28625" y="4639866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888888"/>
                </a:solidFill>
              </a:rPr>
              <a:t>Root Cause: Missing features (Education, Role, Location).</a:t>
            </a:r>
            <a:endParaRPr lang="en-US" sz="148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17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00FF"/>
                </a:solidFill>
              </a:rPr>
              <a:t>What is Variance?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FF"/>
                </a:solidFill>
              </a:rPr>
              <a:t>Sensitivity to Noise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771525" y="1864519"/>
            <a:ext cx="79438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The amount by which the model would change if we estimated it using a </a:t>
            </a:r>
            <a:r>
              <a:rPr lang="en-US" sz="1808" b="1" dirty="0">
                <a:solidFill>
                  <a:srgbClr val="FF00FF"/>
                </a:solidFill>
              </a:rPr>
              <a:t>different training set</a:t>
            </a:r>
            <a:r>
              <a:rPr lang="en-US" sz="1924" dirty="0">
                <a:solidFill>
                  <a:srgbClr val="FFFFFF"/>
                </a:solidFill>
              </a:rPr>
              <a:t>.</a:t>
            </a:r>
            <a:endParaRPr lang="en-US" sz="1924" dirty="0"/>
          </a:p>
        </p:txBody>
      </p:sp>
      <p:sp>
        <p:nvSpPr>
          <p:cNvPr id="6" name="Text 3"/>
          <p:cNvSpPr/>
          <p:nvPr/>
        </p:nvSpPr>
        <p:spPr>
          <a:xfrm>
            <a:off x="428625" y="3013211"/>
            <a:ext cx="17856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FF"/>
                </a:solidFill>
              </a:rPr>
              <a:t>High Variance =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2357103" y="3013211"/>
            <a:ext cx="367292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Overfitting (Model is too sensitive)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428625" y="3682938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888888"/>
                </a:solidFill>
              </a:rPr>
              <a:t>Characteristics of High Variance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4099061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42938" y="4099061"/>
            <a:ext cx="15081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Model captures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2151134" y="4099061"/>
            <a:ext cx="130236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random noise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3453501" y="4099061"/>
            <a:ext cx="209027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as if it were a pattern.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428625" y="4515185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42938" y="4515185"/>
            <a:ext cx="55052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Drastically different predictions with slightly different data.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428625" y="4931308"/>
            <a:ext cx="1144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642938" y="4931308"/>
            <a:ext cx="4131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Perfect training score, but fails on new data.</a:t>
            </a:r>
            <a:endParaRPr lang="en-US" sz="148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03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00FF"/>
                </a:solidFill>
              </a:rPr>
              <a:t>High Variance Scenario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The Noise Trap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693069"/>
            <a:ext cx="3929063" cy="3089672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835944"/>
            <a:ext cx="3643313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Setup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2377083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Task: Predict Salary.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2759971"/>
            <a:ext cx="36433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Input: </a:t>
            </a:r>
            <a:r>
              <a:rPr lang="en-US" sz="1193" b="1" dirty="0">
                <a:solidFill>
                  <a:srgbClr val="FF00FF"/>
                </a:solidFill>
              </a:rPr>
              <a:t>Years + Shoe Size + Zip Code + Favorite Color</a:t>
            </a:r>
            <a:r>
              <a:rPr lang="en-US" sz="1269" dirty="0">
                <a:solidFill>
                  <a:srgbClr val="DDDDDD"/>
                </a:solidFill>
              </a:rPr>
              <a:t>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571500" y="3382873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Model: Degree 15 Polynomial.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71500" y="3765761"/>
            <a:ext cx="364331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Assumption: Every data point matters.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4786313" y="1693069"/>
            <a:ext cx="3929063" cy="3089672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29188" y="1835944"/>
            <a:ext cx="3643313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Reality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886325" y="2162770"/>
            <a:ext cx="3667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Salary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8246762" y="4245173"/>
            <a:ext cx="3257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Years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929188" y="4377333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FF"/>
                </a:solidFill>
              </a:rPr>
              <a:t>Model memorizes the noise.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28625" y="4825603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888888"/>
                </a:solidFill>
              </a:rPr>
              <a:t>Root Cause: Too much complexity, not enough data.</a:t>
            </a:r>
            <a:endParaRPr lang="en-US" sz="148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29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Tradeoff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Seesaw Relationship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1857375" y="1864519"/>
            <a:ext cx="1412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888888"/>
                </a:solidFill>
              </a:rPr>
              <a:t>Simple Model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101613" y="1864519"/>
            <a:ext cx="16137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888888"/>
                </a:solidFill>
              </a:rPr>
              <a:t>Complex Model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494955"/>
            <a:ext cx="1428750" cy="350044"/>
          </a:xfrm>
          <a:prstGeom prst="rect">
            <a:avLst/>
          </a:prstGeom>
          <a:noFill/>
          <a:ln/>
        </p:spPr>
        <p:txBody>
          <a:bodyPr wrap="none" lIns="0" tIns="0" rIns="255143" bIns="0" rtlCol="0" anchor="t">
            <a:sp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FFFF"/>
                </a:solidFill>
              </a:rPr>
              <a:t>Bias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1857375" y="2455664"/>
            <a:ext cx="6858000" cy="428625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00250" y="2572643"/>
            <a:ext cx="3776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HIGH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8244167" y="2572643"/>
            <a:ext cx="3283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LOW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352205"/>
            <a:ext cx="1428750" cy="350044"/>
          </a:xfrm>
          <a:prstGeom prst="rect">
            <a:avLst/>
          </a:prstGeom>
          <a:noFill/>
          <a:ln/>
        </p:spPr>
        <p:txBody>
          <a:bodyPr wrap="none" lIns="0" tIns="0" rIns="255143" bIns="0" rtlCol="0" anchor="t">
            <a:sp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Variance</a:t>
            </a:r>
            <a:endParaRPr lang="en-US" sz="1808" dirty="0"/>
          </a:p>
        </p:txBody>
      </p:sp>
      <p:sp>
        <p:nvSpPr>
          <p:cNvPr id="12" name="Shape 9"/>
          <p:cNvSpPr/>
          <p:nvPr/>
        </p:nvSpPr>
        <p:spPr>
          <a:xfrm>
            <a:off x="1857375" y="3312914"/>
            <a:ext cx="6858000" cy="428625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00250" y="3429893"/>
            <a:ext cx="3283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LOW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8194858" y="3429893"/>
            <a:ext cx="3776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HIGH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85788" y="4470202"/>
            <a:ext cx="7972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Total Error is minimized somewhere in the </a:t>
            </a:r>
            <a:r>
              <a:rPr lang="en-US" sz="1397" b="1" dirty="0">
                <a:solidFill>
                  <a:srgbClr val="00FF00"/>
                </a:solidFill>
              </a:rPr>
              <a:t>Middle</a:t>
            </a: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63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Bullseye Analogy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Visualizing Bias &amp; Variance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988963" y="1828800"/>
            <a:ext cx="139149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Low Bias</a:t>
            </a:r>
            <a:r>
              <a:rPr lang="en-US" sz="942" dirty="0">
                <a:solidFill>
                  <a:srgbClr val="DDDDDD"/>
                </a:solidFill>
              </a:rPr>
              <a:t>, </a:t>
            </a:r>
            <a:r>
              <a:rPr lang="en-US" sz="942" dirty="0">
                <a:solidFill>
                  <a:srgbClr val="00FF00"/>
                </a:solidFill>
              </a:rPr>
              <a:t>Low Variance</a:t>
            </a:r>
            <a:r>
              <a:rPr lang="en-US" sz="942" dirty="0">
                <a:solidFill>
                  <a:srgbClr val="DDDDDD"/>
                </a:solidFill>
              </a:rPr>
              <a:t>
(Ideal)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1613288" y="2678906"/>
            <a:ext cx="142875" cy="142875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93821" y="1828800"/>
            <a:ext cx="143483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Low Bias</a:t>
            </a:r>
            <a:r>
              <a:rPr lang="en-US" sz="942" dirty="0">
                <a:solidFill>
                  <a:srgbClr val="DDDDDD"/>
                </a:solidFill>
              </a:rPr>
              <a:t>, </a:t>
            </a:r>
            <a:r>
              <a:rPr lang="en-US" sz="942" dirty="0">
                <a:solidFill>
                  <a:srgbClr val="FF00FF"/>
                </a:solidFill>
              </a:rPr>
              <a:t>High Variance</a:t>
            </a:r>
            <a:r>
              <a:rPr lang="en-US" sz="942" dirty="0">
                <a:solidFill>
                  <a:srgbClr val="DDDDDD"/>
                </a:solidFill>
              </a:rPr>
              <a:t>
(Overfitting)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339800" y="2678906"/>
            <a:ext cx="142875" cy="142875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967308" y="3679031"/>
            <a:ext cx="143483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00FFFF"/>
                </a:solidFill>
              </a:rPr>
              <a:t>High Bias</a:t>
            </a:r>
            <a:r>
              <a:rPr lang="en-US" sz="942" dirty="0">
                <a:solidFill>
                  <a:srgbClr val="DDDDDD"/>
                </a:solidFill>
              </a:rPr>
              <a:t>, </a:t>
            </a:r>
            <a:r>
              <a:rPr lang="en-US" sz="942" dirty="0">
                <a:solidFill>
                  <a:srgbClr val="00FF00"/>
                </a:solidFill>
              </a:rPr>
              <a:t>Low Variance</a:t>
            </a:r>
            <a:r>
              <a:rPr lang="en-US" sz="942" dirty="0">
                <a:solidFill>
                  <a:srgbClr val="DDDDDD"/>
                </a:solidFill>
              </a:rPr>
              <a:t>
(Underfitting)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1613288" y="4529138"/>
            <a:ext cx="142875" cy="142875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3672167" y="3679031"/>
            <a:ext cx="147817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00FFFF"/>
                </a:solidFill>
              </a:rPr>
              <a:t>High Bias</a:t>
            </a:r>
            <a:r>
              <a:rPr lang="en-US" sz="942" dirty="0">
                <a:solidFill>
                  <a:srgbClr val="DDDDDD"/>
                </a:solidFill>
              </a:rPr>
              <a:t>, </a:t>
            </a:r>
            <a:r>
              <a:rPr lang="en-US" sz="942" dirty="0">
                <a:solidFill>
                  <a:srgbClr val="FF00FF"/>
                </a:solidFill>
              </a:rPr>
              <a:t>High Variance</a:t>
            </a:r>
            <a:r>
              <a:rPr lang="en-US" sz="942" dirty="0">
                <a:solidFill>
                  <a:srgbClr val="DDDDDD"/>
                </a:solidFill>
              </a:rPr>
              <a:t>
(Worst Case)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339800" y="4529138"/>
            <a:ext cx="142875" cy="142875"/>
          </a:xfrm>
          <a:prstGeom prst="ellipse">
            <a:avLst/>
          </a:prstGeom>
          <a:solidFill>
            <a:srgbClr val="FF0000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566" y="1897559"/>
            <a:ext cx="1433103" cy="15537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095991" y="4476452"/>
            <a:ext cx="261938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In practice, we analyze error distributions (histograms/boxplots) to diagnose these issues.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0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Error Decomposition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Where does error come from?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693069"/>
            <a:ext cx="4714875" cy="807244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907381"/>
            <a:ext cx="42862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FFFFFF"/>
                </a:solidFill>
              </a:rPr>
              <a:t>Error = </a:t>
            </a:r>
            <a:r>
              <a:rPr lang="en-US" sz="1808" b="1" kern="0" spc="1" dirty="0">
                <a:solidFill>
                  <a:srgbClr val="00FFFF"/>
                </a:solidFill>
              </a:rPr>
              <a:t>Bias²</a:t>
            </a:r>
            <a:r>
              <a:rPr lang="en-US" sz="1808" b="1" kern="0" spc="1" dirty="0">
                <a:solidFill>
                  <a:srgbClr val="FFFFFF"/>
                </a:solidFill>
              </a:rPr>
              <a:t> + </a:t>
            </a:r>
            <a:r>
              <a:rPr lang="en-US" sz="1808" b="1" kern="0" spc="1" dirty="0">
                <a:solidFill>
                  <a:srgbClr val="FF00FF"/>
                </a:solidFill>
              </a:rPr>
              <a:t>Variance</a:t>
            </a:r>
            <a:r>
              <a:rPr lang="en-US" sz="1808" b="1" kern="0" spc="1" dirty="0">
                <a:solidFill>
                  <a:srgbClr val="FFFFFF"/>
                </a:solidFill>
              </a:rPr>
              <a:t> + </a:t>
            </a:r>
            <a:r>
              <a:rPr lang="en-US" sz="1808" b="1" kern="0" spc="1" dirty="0">
                <a:solidFill>
                  <a:srgbClr val="888888"/>
                </a:solidFill>
              </a:rPr>
              <a:t>Noise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714375" y="2757488"/>
            <a:ext cx="364428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Bias²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714375" y="3066455"/>
            <a:ext cx="364428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Error from erroneous assumptions (Underfitting).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714375" y="3500772"/>
            <a:ext cx="40607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Variance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714375" y="3809740"/>
            <a:ext cx="40607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Error from sensitivity to small fluctuations (Overfitting).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14375" y="4244057"/>
            <a:ext cx="4429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88888"/>
                </a:solidFill>
              </a:rPr>
              <a:t>Irreducible Error (Noise)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714375" y="4553024"/>
            <a:ext cx="44291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Inherent randomness in the data. Cannot be fixed by any model.</a:t>
            </a:r>
            <a:endParaRPr lang="en-US" sz="1159" dirty="0"/>
          </a:p>
        </p:txBody>
      </p:sp>
      <p:sp>
        <p:nvSpPr>
          <p:cNvPr id="15" name="Text 11"/>
          <p:cNvSpPr/>
          <p:nvPr/>
        </p:nvSpPr>
        <p:spPr>
          <a:xfrm>
            <a:off x="5572125" y="4745906"/>
            <a:ext cx="3143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Visualizing the complexity and noise in real data.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1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Learning Curves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MRI for Machine Learning Models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650206"/>
            <a:ext cx="8286750" cy="10058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650206"/>
            <a:ext cx="57150" cy="100581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79308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A diagnostic plot showing how model performance changes as the </a:t>
            </a:r>
            <a:r>
              <a:rPr lang="en-US" sz="1808" b="1" dirty="0">
                <a:solidFill>
                  <a:srgbClr val="00FFFF"/>
                </a:solidFill>
              </a:rPr>
              <a:t>training set size</a:t>
            </a:r>
            <a:r>
              <a:rPr lang="en-US" sz="1924" dirty="0">
                <a:solidFill>
                  <a:srgbClr val="FFFFFF"/>
                </a:solidFill>
              </a:rPr>
              <a:t> increases.</a:t>
            </a:r>
            <a:endParaRPr lang="en-US" sz="1924" dirty="0"/>
          </a:p>
        </p:txBody>
      </p:sp>
      <p:sp>
        <p:nvSpPr>
          <p:cNvPr id="8" name="Text 5"/>
          <p:cNvSpPr/>
          <p:nvPr/>
        </p:nvSpPr>
        <p:spPr>
          <a:xfrm>
            <a:off x="428625" y="2870336"/>
            <a:ext cx="3929063" cy="35183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888888"/>
                </a:solidFill>
              </a:rPr>
              <a:t>The Axes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3436479"/>
            <a:ext cx="285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FFFF"/>
                </a:solidFill>
              </a:rPr>
              <a:t>X</a:t>
            </a:r>
            <a:endParaRPr lang="en-US" sz="1595" dirty="0"/>
          </a:p>
        </p:txBody>
      </p:sp>
      <p:sp>
        <p:nvSpPr>
          <p:cNvPr id="10" name="Text 7"/>
          <p:cNvSpPr/>
          <p:nvPr/>
        </p:nvSpPr>
        <p:spPr>
          <a:xfrm>
            <a:off x="821531" y="3436479"/>
            <a:ext cx="35361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Training Set Size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821531" y="3745446"/>
            <a:ext cx="35361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How much data the model has "experienced".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28625" y="4251201"/>
            <a:ext cx="285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FFFF"/>
                </a:solidFill>
              </a:rPr>
              <a:t>Y</a:t>
            </a:r>
            <a:endParaRPr lang="en-US" sz="1595" dirty="0"/>
          </a:p>
        </p:txBody>
      </p:sp>
      <p:sp>
        <p:nvSpPr>
          <p:cNvPr id="13" name="Text 10"/>
          <p:cNvSpPr/>
          <p:nvPr/>
        </p:nvSpPr>
        <p:spPr>
          <a:xfrm>
            <a:off x="821531" y="4251201"/>
            <a:ext cx="35361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Score / Error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821531" y="4560168"/>
            <a:ext cx="35361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Accuracy, R², or Loss metric.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786313" y="2870336"/>
            <a:ext cx="3929063" cy="35183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888888"/>
                </a:solidFill>
              </a:rPr>
              <a:t>The Lines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4786313" y="3436479"/>
            <a:ext cx="285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00FFFF"/>
                </a:solidFill>
              </a:rPr>
              <a:t>—</a:t>
            </a:r>
            <a:endParaRPr lang="en-US" sz="1595" dirty="0"/>
          </a:p>
        </p:txBody>
      </p:sp>
      <p:sp>
        <p:nvSpPr>
          <p:cNvPr id="17" name="Text 14"/>
          <p:cNvSpPr/>
          <p:nvPr/>
        </p:nvSpPr>
        <p:spPr>
          <a:xfrm>
            <a:off x="5179219" y="3436479"/>
            <a:ext cx="35361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Training Score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5179219" y="3745446"/>
            <a:ext cx="35361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How well the model fits the data it has seen.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4786313" y="4251201"/>
            <a:ext cx="285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—</a:t>
            </a:r>
            <a:endParaRPr lang="en-US" sz="1595" dirty="0"/>
          </a:p>
        </p:txBody>
      </p:sp>
      <p:sp>
        <p:nvSpPr>
          <p:cNvPr id="20" name="Text 17"/>
          <p:cNvSpPr/>
          <p:nvPr/>
        </p:nvSpPr>
        <p:spPr>
          <a:xfrm>
            <a:off x="5179219" y="4251201"/>
            <a:ext cx="35361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Validation Score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179219" y="4560168"/>
            <a:ext cx="35361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How well the model generalizes to new data.</a:t>
            </a:r>
            <a:endParaRPr lang="en-US" sz="115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Reading Learning Curves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09067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Interpreting the Gap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621631"/>
            <a:ext cx="3929063" cy="40005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The Components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821531" y="2150269"/>
            <a:ext cx="14187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Training Score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2466380"/>
            <a:ext cx="3929063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How well the model fits seen data.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821531" y="2846422"/>
            <a:ext cx="161320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Validation Score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3162533"/>
            <a:ext cx="3929063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How well the model generalizes.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786313" y="1621631"/>
            <a:ext cx="3929063" cy="40005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The Signals</a:t>
            </a:r>
            <a:endParaRPr lang="en-US" sz="1808" dirty="0"/>
          </a:p>
        </p:txBody>
      </p:sp>
      <p:sp>
        <p:nvSpPr>
          <p:cNvPr id="11" name="Shape 8"/>
          <p:cNvSpPr/>
          <p:nvPr/>
        </p:nvSpPr>
        <p:spPr>
          <a:xfrm>
            <a:off x="4786313" y="2150269"/>
            <a:ext cx="3929063" cy="770437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0613" y="2264569"/>
            <a:ext cx="370046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1. Check the Level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900613" y="2587823"/>
            <a:ext cx="37004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Are both scores high or low? Low may imply bias.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4786313" y="3035005"/>
            <a:ext cx="3929063" cy="770437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0613" y="3149305"/>
            <a:ext cx="370046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2. Check the Gap</a:t>
            </a:r>
            <a:endParaRPr lang="en-US" sz="1295" dirty="0"/>
          </a:p>
        </p:txBody>
      </p:sp>
      <p:sp>
        <p:nvSpPr>
          <p:cNvPr id="16" name="Text 13"/>
          <p:cNvSpPr/>
          <p:nvPr/>
        </p:nvSpPr>
        <p:spPr>
          <a:xfrm>
            <a:off x="4900613" y="3472560"/>
            <a:ext cx="37004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The vertical gap reflects </a:t>
            </a:r>
            <a:r>
              <a:rPr lang="en-US" sz="1090" b="1" dirty="0">
                <a:solidFill>
                  <a:srgbClr val="FFFF00"/>
                </a:solidFill>
              </a:rPr>
              <a:t>variance</a:t>
            </a:r>
            <a:r>
              <a:rPr lang="en-US" sz="1159" dirty="0">
                <a:solidFill>
                  <a:srgbClr val="AAAAAA"/>
                </a:solidFill>
              </a:rPr>
              <a:t>.</a:t>
            </a:r>
            <a:endParaRPr lang="en-US" sz="1159" dirty="0"/>
          </a:p>
        </p:txBody>
      </p:sp>
      <p:sp>
        <p:nvSpPr>
          <p:cNvPr id="17" name="Shape 14"/>
          <p:cNvSpPr/>
          <p:nvPr/>
        </p:nvSpPr>
        <p:spPr>
          <a:xfrm>
            <a:off x="4786313" y="3919742"/>
            <a:ext cx="3929063" cy="770437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00613" y="4034042"/>
            <a:ext cx="370046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3. Check Convergence</a:t>
            </a:r>
            <a:endParaRPr lang="en-US" sz="1295" dirty="0"/>
          </a:p>
        </p:txBody>
      </p:sp>
      <p:sp>
        <p:nvSpPr>
          <p:cNvPr id="19" name="Text 16"/>
          <p:cNvSpPr/>
          <p:nvPr/>
        </p:nvSpPr>
        <p:spPr>
          <a:xfrm>
            <a:off x="4900613" y="4357297"/>
            <a:ext cx="370046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AAAAAA"/>
                </a:solidFill>
              </a:rPr>
              <a:t>Do the lines converge with more data?</a:t>
            </a:r>
            <a:endParaRPr lang="en-US" sz="115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4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Underfitting Signature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High Bias Diagnosis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771650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42938" y="1773436"/>
            <a:ext cx="158722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Training Score is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2230162" y="1773436"/>
            <a:ext cx="4596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LOW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2689845" y="1773436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28625" y="2265992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42938" y="2267778"/>
            <a:ext cx="175683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Validation Score is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2399770" y="2267778"/>
            <a:ext cx="4596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LOW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2859453" y="2267778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428625" y="2760334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42938" y="2762120"/>
            <a:ext cx="6323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Gap is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1275243" y="2762120"/>
            <a:ext cx="102733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very small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2302576" y="2762120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17" name="Text 14"/>
          <p:cNvSpPr/>
          <p:nvPr/>
        </p:nvSpPr>
        <p:spPr>
          <a:xfrm>
            <a:off x="428625" y="3254676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42938" y="3256462"/>
            <a:ext cx="174723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Adding more data</a:t>
            </a:r>
            <a:endParaRPr lang="en-US" sz="1486" dirty="0"/>
          </a:p>
        </p:txBody>
      </p:sp>
      <p:sp>
        <p:nvSpPr>
          <p:cNvPr id="19" name="Text 16"/>
          <p:cNvSpPr/>
          <p:nvPr/>
        </p:nvSpPr>
        <p:spPr>
          <a:xfrm>
            <a:off x="2390170" y="3256462"/>
            <a:ext cx="13513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does not help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642938" y="3536491"/>
            <a:ext cx="148260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(curves flatline).</a:t>
            </a:r>
            <a:endParaRPr lang="en-US" sz="1486" dirty="0"/>
          </a:p>
        </p:txBody>
      </p:sp>
      <p:sp>
        <p:nvSpPr>
          <p:cNvPr id="21" name="Shape 18"/>
          <p:cNvSpPr/>
          <p:nvPr/>
        </p:nvSpPr>
        <p:spPr>
          <a:xfrm>
            <a:off x="428625" y="4171922"/>
            <a:ext cx="3929063" cy="753666"/>
          </a:xfrm>
          <a:prstGeom prst="rect">
            <a:avLst/>
          </a:prstGeom>
          <a:solidFill>
            <a:srgbClr val="00FFFF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171922"/>
            <a:ext cx="42863" cy="75366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4314797"/>
            <a:ext cx="364331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FF"/>
                </a:solidFill>
              </a:rPr>
              <a:t>The Fix:</a:t>
            </a:r>
            <a:r>
              <a:rPr lang="en-US" sz="1269" dirty="0">
                <a:solidFill>
                  <a:srgbClr val="DDDDDD"/>
                </a:solidFill>
              </a:rPr>
              <a:t> Increase Model Complexity (Add features, polynomial degrees).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929188" y="1914525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</a:rPr>
              <a:t>Learning Curve: High Bias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7971337" y="1914525"/>
            <a:ext cx="4921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Training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7971337" y="2160984"/>
            <a:ext cx="601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Validation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157788" y="2112764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Score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7936511" y="4316611"/>
            <a:ext cx="4931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Data Size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7149471" y="3471137"/>
            <a:ext cx="1280154" cy="196621"/>
          </a:xfrm>
          <a:prstGeom prst="rect">
            <a:avLst/>
          </a:prstGeom>
          <a:solidFill>
            <a:srgbClr val="FF0000">
              <a:alpha val="20000"/>
            </a:srgbClr>
          </a:solidFill>
          <a:ln w="9144">
            <a:solidFill>
              <a:srgbClr val="FF0000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7149471" y="3471137"/>
            <a:ext cx="1280154" cy="1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0000"/>
                </a:solidFill>
              </a:rPr>
              <a:t>Low Performance</a:t>
            </a:r>
            <a:endParaRPr lang="en-US" sz="68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4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00FF"/>
                </a:solidFill>
              </a:rPr>
              <a:t>Overfitting Signature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FF"/>
                </a:solidFill>
              </a:rPr>
              <a:t>High Variance Diagnosis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571500" y="1935956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</a:rPr>
              <a:t>Learning Curve: High Variance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3613649" y="1935956"/>
            <a:ext cx="4921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Training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613649" y="2182416"/>
            <a:ext cx="601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Validation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800100" y="2134195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Score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578823" y="4338042"/>
            <a:ext cx="4931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Data Size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951792" y="2804368"/>
            <a:ext cx="7859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00"/>
                </a:solidFill>
              </a:rPr>
              <a:t>LARGE GAP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86313" y="1793081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000625" y="1794867"/>
            <a:ext cx="158722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Training Score is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6587849" y="1794867"/>
            <a:ext cx="52869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HIGH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7116542" y="1794867"/>
            <a:ext cx="153679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(Memorization).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4786313" y="2287423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5000625" y="2289209"/>
            <a:ext cx="175683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Validation Score is</a:t>
            </a:r>
            <a:endParaRPr lang="en-US" sz="1486" dirty="0"/>
          </a:p>
        </p:txBody>
      </p:sp>
      <p:sp>
        <p:nvSpPr>
          <p:cNvPr id="18" name="Text 15"/>
          <p:cNvSpPr/>
          <p:nvPr/>
        </p:nvSpPr>
        <p:spPr>
          <a:xfrm>
            <a:off x="6757457" y="2289209"/>
            <a:ext cx="4596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LOW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7217141" y="2289209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20" name="Text 17"/>
          <p:cNvSpPr/>
          <p:nvPr/>
        </p:nvSpPr>
        <p:spPr>
          <a:xfrm>
            <a:off x="4786313" y="2781765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000625" y="2783551"/>
            <a:ext cx="6323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Gap is</a:t>
            </a:r>
            <a:endParaRPr lang="en-US" sz="1486" dirty="0"/>
          </a:p>
        </p:txBody>
      </p:sp>
      <p:sp>
        <p:nvSpPr>
          <p:cNvPr id="22" name="Text 19"/>
          <p:cNvSpPr/>
          <p:nvPr/>
        </p:nvSpPr>
        <p:spPr>
          <a:xfrm>
            <a:off x="5632931" y="2783551"/>
            <a:ext cx="6398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LARGE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6272826" y="2783551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24" name="Text 21"/>
          <p:cNvSpPr/>
          <p:nvPr/>
        </p:nvSpPr>
        <p:spPr>
          <a:xfrm>
            <a:off x="4786313" y="3276107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&gt;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5000625" y="3277893"/>
            <a:ext cx="11957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Adding data</a:t>
            </a:r>
            <a:endParaRPr lang="en-US" sz="1486" dirty="0"/>
          </a:p>
        </p:txBody>
      </p:sp>
      <p:sp>
        <p:nvSpPr>
          <p:cNvPr id="26" name="Text 23"/>
          <p:cNvSpPr/>
          <p:nvPr/>
        </p:nvSpPr>
        <p:spPr>
          <a:xfrm>
            <a:off x="6196394" y="3277893"/>
            <a:ext cx="6138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HELPS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972894" y="3587161"/>
            <a:ext cx="3612505" cy="55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(Validation score is rising).</a:t>
            </a:r>
            <a:endParaRPr lang="en-US" sz="1486" dirty="0"/>
          </a:p>
        </p:txBody>
      </p:sp>
      <p:sp>
        <p:nvSpPr>
          <p:cNvPr id="28" name="Shape 25"/>
          <p:cNvSpPr/>
          <p:nvPr/>
        </p:nvSpPr>
        <p:spPr>
          <a:xfrm>
            <a:off x="4786313" y="4193353"/>
            <a:ext cx="3929063" cy="753666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786313" y="4193353"/>
            <a:ext cx="42863" cy="753666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0" name="Text 27"/>
          <p:cNvSpPr/>
          <p:nvPr/>
        </p:nvSpPr>
        <p:spPr>
          <a:xfrm>
            <a:off x="4929188" y="4336228"/>
            <a:ext cx="364331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The Fix:</a:t>
            </a:r>
            <a:r>
              <a:rPr lang="en-US" sz="1269" dirty="0">
                <a:solidFill>
                  <a:srgbClr val="DDDDDD"/>
                </a:solidFill>
              </a:rPr>
              <a:t> Regularization, More Data, or Reduce Complexity.</a:t>
            </a:r>
            <a:endParaRPr lang="en-US" sz="119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Good Fit Signature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Goal State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817024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&gt;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42938" y="1818810"/>
            <a:ext cx="158722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Training Score is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2230162" y="1818810"/>
            <a:ext cx="52869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HIGH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2758855" y="1818810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28625" y="2311366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&gt;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42938" y="2313152"/>
            <a:ext cx="175683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Validation Score is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2399770" y="2313152"/>
            <a:ext cx="52869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HIGH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2928463" y="2313152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428625" y="2805708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&gt;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42938" y="2807494"/>
            <a:ext cx="6323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Gap is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1275243" y="2807494"/>
            <a:ext cx="53868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small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1813926" y="2807494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.</a:t>
            </a:r>
            <a:endParaRPr lang="en-US" sz="1486" dirty="0"/>
          </a:p>
        </p:txBody>
      </p:sp>
      <p:sp>
        <p:nvSpPr>
          <p:cNvPr id="17" name="Text 14"/>
          <p:cNvSpPr/>
          <p:nvPr/>
        </p:nvSpPr>
        <p:spPr>
          <a:xfrm>
            <a:off x="428625" y="3300050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00"/>
                </a:solidFill>
              </a:rPr>
              <a:t>&gt;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42938" y="3301836"/>
            <a:ext cx="344144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Both curves converge at a high level.</a:t>
            </a:r>
            <a:endParaRPr lang="en-US" sz="1486" dirty="0"/>
          </a:p>
        </p:txBody>
      </p:sp>
      <p:sp>
        <p:nvSpPr>
          <p:cNvPr id="19" name="Shape 16"/>
          <p:cNvSpPr/>
          <p:nvPr/>
        </p:nvSpPr>
        <p:spPr>
          <a:xfrm>
            <a:off x="428625" y="3937267"/>
            <a:ext cx="3929063" cy="753666"/>
          </a:xfrm>
          <a:prstGeom prst="rect">
            <a:avLst/>
          </a:prstGeom>
          <a:solidFill>
            <a:srgbClr val="00FF00">
              <a:alpha val="1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3937267"/>
            <a:ext cx="42863" cy="753666"/>
          </a:xfrm>
          <a:prstGeom prst="rect">
            <a:avLst/>
          </a:prstGeom>
          <a:solidFill>
            <a:srgbClr val="00FF00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4080142"/>
            <a:ext cx="364331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00"/>
                </a:solidFill>
              </a:rPr>
              <a:t>The Result:</a:t>
            </a:r>
            <a:r>
              <a:rPr lang="en-US" sz="1269" dirty="0">
                <a:solidFill>
                  <a:srgbClr val="DDDDDD"/>
                </a:solidFill>
              </a:rPr>
              <a:t> The model generalizes well to new data without memorizing noise.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4929188" y="1935956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</a:rPr>
              <a:t>Learning Curve: Good Fit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7971337" y="1935956"/>
            <a:ext cx="4921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Training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971337" y="2182416"/>
            <a:ext cx="601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Validation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157788" y="2134195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Score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7936511" y="4338042"/>
            <a:ext cx="4931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Data Size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7149471" y="2706030"/>
            <a:ext cx="1280154" cy="294931"/>
          </a:xfrm>
          <a:prstGeom prst="rect">
            <a:avLst/>
          </a:prstGeom>
          <a:solidFill>
            <a:srgbClr val="00FF00">
              <a:alpha val="10000"/>
            </a:srgbClr>
          </a:solidFill>
          <a:ln w="9144">
            <a:solidFill>
              <a:srgbClr val="00FF00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7149471" y="2706030"/>
            <a:ext cx="1280154" cy="294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00"/>
                </a:solidFill>
              </a:rPr>
              <a:t>High Performance</a:t>
            </a:r>
            <a:endParaRPr lang="en-US" sz="68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Validation Curves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Tuning for Complexity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653289" y="1659592"/>
            <a:ext cx="3671888" cy="125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A plot showing how model performance changes as we vary a </a:t>
            </a:r>
            <a:r>
              <a:rPr lang="en-US" sz="1602" b="1" dirty="0">
                <a:solidFill>
                  <a:srgbClr val="00FFFF"/>
                </a:solidFill>
              </a:rPr>
              <a:t>hyperparameter (Learning rate, batch size, Epoch, L1/L2 regularization)</a:t>
            </a:r>
            <a:r>
              <a:rPr lang="en-US" sz="1704" dirty="0">
                <a:solidFill>
                  <a:srgbClr val="FFFFFF"/>
                </a:solidFill>
              </a:rPr>
              <a:t> (complexity).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428625" y="3125893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X-Axis: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143000" y="3125893"/>
            <a:ext cx="29136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Model Complexity (e.g., Tree Depth)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3467007"/>
            <a:ext cx="714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Y-Axis: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143000" y="3467007"/>
            <a:ext cx="18998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Model Score (Accuracy)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428625" y="4165309"/>
            <a:ext cx="3929063" cy="462558"/>
          </a:xfrm>
          <a:prstGeom prst="rect">
            <a:avLst/>
          </a:prstGeom>
          <a:solidFill>
            <a:srgbClr val="00FF00">
              <a:alpha val="10000"/>
            </a:srgbClr>
          </a:solidFill>
          <a:ln w="9144">
            <a:solidFill>
              <a:srgbClr val="00FF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781" y="4279609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00"/>
                </a:solidFill>
              </a:rPr>
              <a:t>Goal: Find the Peak (Sweet Spot)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929188" y="1935956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</a:rPr>
              <a:t>Validation Curve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7971337" y="1935956"/>
            <a:ext cx="4921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Training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7971337" y="2182416"/>
            <a:ext cx="601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Validation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157788" y="2134195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Score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829885" y="4166592"/>
            <a:ext cx="5997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Complexity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893412" y="2402532"/>
            <a:ext cx="709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00"/>
                </a:solidFill>
              </a:rPr>
              <a:t>Sweet Spot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929188" y="4371975"/>
            <a:ext cx="470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Low (Bias)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7859688" y="4371975"/>
            <a:ext cx="7128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High (Variance)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935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The Complexity Axis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Navigating from Simple to Complex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578769"/>
            <a:ext cx="5532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FFFF"/>
                </a:solidFill>
              </a:rPr>
              <a:t>Simple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8001223" y="1578769"/>
            <a:ext cx="7141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FFFF"/>
                </a:solidFill>
              </a:rPr>
              <a:t>Complex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2078831"/>
            <a:ext cx="8286750" cy="142875"/>
          </a:xfrm>
          <a:prstGeom prst="roundRect">
            <a:avLst/>
          </a:prstGeom>
          <a:solidFill>
            <a:srgbClr val="00FF00"/>
          </a:solidFill>
          <a:ln/>
        </p:spPr>
      </p:sp>
      <p:sp>
        <p:nvSpPr>
          <p:cNvPr id="8" name="Shape 5"/>
          <p:cNvSpPr/>
          <p:nvPr/>
        </p:nvSpPr>
        <p:spPr>
          <a:xfrm>
            <a:off x="1528763" y="2007394"/>
            <a:ext cx="285750" cy="285750"/>
          </a:xfrm>
          <a:prstGeom prst="ellipse">
            <a:avLst/>
          </a:prstGeom>
          <a:solidFill>
            <a:srgbClr val="000000"/>
          </a:solidFill>
          <a:ln w="27432">
            <a:solidFill>
              <a:srgbClr val="00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28763" y="200739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FF"/>
                </a:solidFill>
              </a:rPr>
              <a:t>1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393406" y="1971675"/>
            <a:ext cx="357188" cy="357188"/>
          </a:xfrm>
          <a:prstGeom prst="ellipse">
            <a:avLst/>
          </a:prstGeom>
          <a:solidFill>
            <a:srgbClr val="000000"/>
          </a:solidFill>
          <a:ln w="27432">
            <a:solidFill>
              <a:srgbClr val="00FF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93406" y="197167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00"/>
                </a:solidFill>
              </a:rPr>
              <a:t>2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7329488" y="2007394"/>
            <a:ext cx="285750" cy="285750"/>
          </a:xfrm>
          <a:prstGeom prst="ellipse">
            <a:avLst/>
          </a:prstGeom>
          <a:solidFill>
            <a:srgbClr val="000000"/>
          </a:solidFill>
          <a:ln w="27432">
            <a:solidFill>
              <a:srgbClr val="FF0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29488" y="200739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3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28625" y="2721769"/>
            <a:ext cx="2571750" cy="2664619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495" y="2900363"/>
            <a:ext cx="18164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00FFFF"/>
                </a:solidFill>
              </a:rPr>
              <a:t>Underfitting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1310739" y="3320058"/>
            <a:ext cx="7979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"Too Simple"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7219" y="3693319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FF"/>
                </a:solidFill>
              </a:rPr>
              <a:t>•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750094" y="3693319"/>
            <a:ext cx="69782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High Bias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607219" y="4014788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FF"/>
                </a:solidFill>
              </a:rPr>
              <a:t>•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750094" y="4014788"/>
            <a:ext cx="11627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Misses patterns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607219" y="433625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FF"/>
                </a:solidFill>
              </a:rPr>
              <a:t>•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750094" y="4336256"/>
            <a:ext cx="17470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Linear model on curved data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607219" y="4872038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FF"/>
                </a:solidFill>
              </a:rPr>
              <a:t>•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750094" y="4872038"/>
            <a:ext cx="9418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Few features</a:t>
            </a:r>
            <a:endParaRPr lang="en-US" sz="1159" dirty="0"/>
          </a:p>
        </p:txBody>
      </p:sp>
      <p:sp>
        <p:nvSpPr>
          <p:cNvPr id="25" name="Shape 22"/>
          <p:cNvSpPr/>
          <p:nvPr/>
        </p:nvSpPr>
        <p:spPr>
          <a:xfrm>
            <a:off x="3276609" y="2721769"/>
            <a:ext cx="2576522" cy="2650331"/>
          </a:xfrm>
          <a:prstGeom prst="rect">
            <a:avLst/>
          </a:prstGeom>
          <a:solidFill>
            <a:srgbClr val="00FF00">
              <a:alpha val="5000"/>
            </a:srgbClr>
          </a:solidFill>
          <a:ln w="9144">
            <a:solidFill>
              <a:srgbClr val="00FF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97796" y="2900363"/>
            <a:ext cx="153409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00FF00"/>
                </a:solidFill>
              </a:rPr>
              <a:t>Optimal Fit</a:t>
            </a:r>
            <a:endParaRPr lang="en-US" sz="1602" dirty="0"/>
          </a:p>
        </p:txBody>
      </p:sp>
      <p:sp>
        <p:nvSpPr>
          <p:cNvPr id="27" name="Text 24"/>
          <p:cNvSpPr/>
          <p:nvPr/>
        </p:nvSpPr>
        <p:spPr>
          <a:xfrm>
            <a:off x="4207557" y="3320058"/>
            <a:ext cx="7145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"Just Right"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459947" y="3693319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•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3602822" y="3693319"/>
            <a:ext cx="7127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Low Error</a:t>
            </a:r>
            <a:endParaRPr lang="en-US" sz="1159" dirty="0"/>
          </a:p>
        </p:txBody>
      </p:sp>
      <p:sp>
        <p:nvSpPr>
          <p:cNvPr id="30" name="Text 27"/>
          <p:cNvSpPr/>
          <p:nvPr/>
        </p:nvSpPr>
        <p:spPr>
          <a:xfrm>
            <a:off x="3459947" y="4014788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•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3602822" y="4014788"/>
            <a:ext cx="11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Captures signal</a:t>
            </a:r>
            <a:endParaRPr lang="en-US" sz="1159" dirty="0"/>
          </a:p>
        </p:txBody>
      </p:sp>
      <p:sp>
        <p:nvSpPr>
          <p:cNvPr id="32" name="Text 29"/>
          <p:cNvSpPr/>
          <p:nvPr/>
        </p:nvSpPr>
        <p:spPr>
          <a:xfrm>
            <a:off x="3459947" y="433625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•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3602822" y="4336256"/>
            <a:ext cx="10053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Ignores noise</a:t>
            </a:r>
            <a:endParaRPr lang="en-US" sz="1159" dirty="0"/>
          </a:p>
        </p:txBody>
      </p:sp>
      <p:sp>
        <p:nvSpPr>
          <p:cNvPr id="34" name="Text 31"/>
          <p:cNvSpPr/>
          <p:nvPr/>
        </p:nvSpPr>
        <p:spPr>
          <a:xfrm>
            <a:off x="3459947" y="4657725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00"/>
                </a:solidFill>
              </a:rPr>
              <a:t>•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3602822" y="4657725"/>
            <a:ext cx="1191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Generalizes well</a:t>
            </a:r>
            <a:endParaRPr lang="en-US" sz="1159" dirty="0"/>
          </a:p>
        </p:txBody>
      </p:sp>
      <p:sp>
        <p:nvSpPr>
          <p:cNvPr id="36" name="Shape 33"/>
          <p:cNvSpPr/>
          <p:nvPr/>
        </p:nvSpPr>
        <p:spPr>
          <a:xfrm>
            <a:off x="6134081" y="2721769"/>
            <a:ext cx="2581266" cy="2650331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4600" y="2900363"/>
            <a:ext cx="160977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FF00FF"/>
                </a:solidFill>
              </a:rPr>
              <a:t>Overfitting</a:t>
            </a:r>
            <a:endParaRPr lang="en-US" sz="1602" dirty="0"/>
          </a:p>
        </p:txBody>
      </p:sp>
      <p:sp>
        <p:nvSpPr>
          <p:cNvPr id="38" name="Text 35"/>
          <p:cNvSpPr/>
          <p:nvPr/>
        </p:nvSpPr>
        <p:spPr>
          <a:xfrm>
            <a:off x="6967640" y="3320058"/>
            <a:ext cx="9236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"Too Complex"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322219" y="3693319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FF"/>
                </a:solidFill>
              </a:rPr>
              <a:t>•</a:t>
            </a:r>
            <a:endParaRPr lang="en-US" sz="1090" dirty="0"/>
          </a:p>
        </p:txBody>
      </p:sp>
      <p:sp>
        <p:nvSpPr>
          <p:cNvPr id="40" name="Text 37"/>
          <p:cNvSpPr/>
          <p:nvPr/>
        </p:nvSpPr>
        <p:spPr>
          <a:xfrm>
            <a:off x="6465094" y="3693319"/>
            <a:ext cx="10258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High Variance</a:t>
            </a:r>
            <a:endParaRPr lang="en-US" sz="1159" dirty="0"/>
          </a:p>
        </p:txBody>
      </p:sp>
      <p:sp>
        <p:nvSpPr>
          <p:cNvPr id="41" name="Text 38"/>
          <p:cNvSpPr/>
          <p:nvPr/>
        </p:nvSpPr>
        <p:spPr>
          <a:xfrm>
            <a:off x="6322219" y="4014788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FF"/>
                </a:solidFill>
              </a:rPr>
              <a:t>•</a:t>
            </a:r>
            <a:endParaRPr lang="en-US" sz="1090" dirty="0"/>
          </a:p>
        </p:txBody>
      </p:sp>
      <p:sp>
        <p:nvSpPr>
          <p:cNvPr id="42" name="Text 39"/>
          <p:cNvSpPr/>
          <p:nvPr/>
        </p:nvSpPr>
        <p:spPr>
          <a:xfrm>
            <a:off x="6465094" y="4014788"/>
            <a:ext cx="12540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Memorizes noise</a:t>
            </a:r>
            <a:endParaRPr lang="en-US" sz="1159" dirty="0"/>
          </a:p>
        </p:txBody>
      </p:sp>
      <p:sp>
        <p:nvSpPr>
          <p:cNvPr id="43" name="Text 40"/>
          <p:cNvSpPr/>
          <p:nvPr/>
        </p:nvSpPr>
        <p:spPr>
          <a:xfrm>
            <a:off x="6322219" y="433625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FF"/>
                </a:solidFill>
              </a:rPr>
              <a:t>•</a:t>
            </a:r>
            <a:endParaRPr lang="en-US" sz="1090" dirty="0"/>
          </a:p>
        </p:txBody>
      </p:sp>
      <p:sp>
        <p:nvSpPr>
          <p:cNvPr id="44" name="Text 41"/>
          <p:cNvSpPr/>
          <p:nvPr/>
        </p:nvSpPr>
        <p:spPr>
          <a:xfrm>
            <a:off x="6465094" y="4336256"/>
            <a:ext cx="1784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High-degree polynomial</a:t>
            </a:r>
            <a:endParaRPr lang="en-US" sz="1159" dirty="0"/>
          </a:p>
        </p:txBody>
      </p:sp>
      <p:sp>
        <p:nvSpPr>
          <p:cNvPr id="45" name="Text 42"/>
          <p:cNvSpPr/>
          <p:nvPr/>
        </p:nvSpPr>
        <p:spPr>
          <a:xfrm>
            <a:off x="6322219" y="4657725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FF"/>
                </a:solidFill>
              </a:rPr>
              <a:t>•</a:t>
            </a:r>
            <a:endParaRPr lang="en-US" sz="1090" dirty="0"/>
          </a:p>
        </p:txBody>
      </p:sp>
      <p:sp>
        <p:nvSpPr>
          <p:cNvPr id="46" name="Text 43"/>
          <p:cNvSpPr/>
          <p:nvPr/>
        </p:nvSpPr>
        <p:spPr>
          <a:xfrm>
            <a:off x="6465094" y="4657725"/>
            <a:ext cx="1371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Too many features</a:t>
            </a:r>
            <a:endParaRPr lang="en-US" sz="1159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8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Fixing Underfitting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Strategies to Reduce Bias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428625" y="1721644"/>
            <a:ext cx="4036219" cy="141119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721644"/>
            <a:ext cx="42863" cy="139691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4"/>
          <p:cNvSpPr/>
          <p:nvPr/>
        </p:nvSpPr>
        <p:spPr>
          <a:xfrm>
            <a:off x="3929676" y="1864519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>
                    <a:alpha val="5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57213" y="1850231"/>
            <a:ext cx="37790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Increase Complexity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557213" y="2269927"/>
            <a:ext cx="377904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Switch to a more powerful model (e.g., from Linear Regression to Decision Trees or Neural Networks).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4679156" y="1721644"/>
            <a:ext cx="4036219" cy="1396910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56" y="1721644"/>
            <a:ext cx="42863" cy="139691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180208" y="1864519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>
                    <a:alpha val="5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4807744" y="1970224"/>
            <a:ext cx="37790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Add Features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07744" y="2389919"/>
            <a:ext cx="37790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Create </a:t>
            </a:r>
            <a:r>
              <a:rPr lang="en-US" sz="1193" b="1" dirty="0">
                <a:solidFill>
                  <a:srgbClr val="00FFFF"/>
                </a:solidFill>
              </a:rPr>
              <a:t>Polynomial Features</a:t>
            </a:r>
            <a:r>
              <a:rPr lang="en-US" sz="1269" dirty="0">
                <a:solidFill>
                  <a:srgbClr val="CCCCCC"/>
                </a:solidFill>
              </a:rPr>
              <a:t>, interaction terms, or collect more relevant data columns.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428625" y="3332866"/>
            <a:ext cx="4036219" cy="141119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8625" y="3332866"/>
            <a:ext cx="42863" cy="139691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3929676" y="3475741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>
                    <a:alpha val="5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8" name="Text 15"/>
          <p:cNvSpPr/>
          <p:nvPr/>
        </p:nvSpPr>
        <p:spPr>
          <a:xfrm>
            <a:off x="557213" y="3588590"/>
            <a:ext cx="37790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Reduce Regularization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557213" y="4008286"/>
            <a:ext cx="37790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Decrease the penalty term (Lambda/Alpha) to allow the model to fit the data more closely.</a:t>
            </a:r>
            <a:endParaRPr lang="en-US" sz="1269" dirty="0"/>
          </a:p>
        </p:txBody>
      </p:sp>
      <p:sp>
        <p:nvSpPr>
          <p:cNvPr id="20" name="Shape 17"/>
          <p:cNvSpPr/>
          <p:nvPr/>
        </p:nvSpPr>
        <p:spPr>
          <a:xfrm>
            <a:off x="4679156" y="3332866"/>
            <a:ext cx="4036219" cy="141119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79156" y="3332866"/>
            <a:ext cx="42863" cy="139691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180208" y="3475741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>
                    <a:alpha val="50000"/>
                  </a:srgbClr>
                </a:solidFill>
              </a:rPr>
              <a:t>04</a:t>
            </a:r>
            <a:endParaRPr lang="en-US" sz="2436" dirty="0"/>
          </a:p>
        </p:txBody>
      </p:sp>
      <p:sp>
        <p:nvSpPr>
          <p:cNvPr id="23" name="Text 20"/>
          <p:cNvSpPr/>
          <p:nvPr/>
        </p:nvSpPr>
        <p:spPr>
          <a:xfrm>
            <a:off x="4807744" y="3461454"/>
            <a:ext cx="37790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Train Longer</a:t>
            </a:r>
            <a:endParaRPr lang="en-US" sz="1602" dirty="0"/>
          </a:p>
        </p:txBody>
      </p:sp>
      <p:sp>
        <p:nvSpPr>
          <p:cNvPr id="24" name="Text 21"/>
          <p:cNvSpPr/>
          <p:nvPr/>
        </p:nvSpPr>
        <p:spPr>
          <a:xfrm>
            <a:off x="4807744" y="3881149"/>
            <a:ext cx="377904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For iterative algorithms (like Gradient Descent), increase the number of epochs/iterations.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428625" y="4801214"/>
            <a:ext cx="8286750" cy="4000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i="1" dirty="0">
                <a:solidFill>
                  <a:srgbClr val="888888"/>
                </a:solidFill>
              </a:rPr>
              <a:t>Goal: Give the model enough capacity to capture the underlying patterns.</a:t>
            </a:r>
            <a:endParaRPr lang="en-US" sz="115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FF00FF"/>
                </a:solidFill>
              </a:rPr>
              <a:t>Fixing Overfitting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00FFFF"/>
                </a:solidFill>
              </a:rPr>
              <a:t>Taming High Variance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607344"/>
            <a:ext cx="3269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00FF"/>
                </a:solidFill>
              </a:rPr>
              <a:t>01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969848" y="1607344"/>
            <a:ext cx="77455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00FFFF"/>
                </a:solidFill>
              </a:rPr>
              <a:t>Get More Data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969848" y="2000250"/>
            <a:ext cx="7745527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More examples enforce generalization over noise.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28625" y="2466017"/>
            <a:ext cx="3269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00FF"/>
                </a:solidFill>
              </a:rPr>
              <a:t>02</a:t>
            </a:r>
            <a:endParaRPr lang="en-US" sz="2016" dirty="0"/>
          </a:p>
        </p:txBody>
      </p:sp>
      <p:sp>
        <p:nvSpPr>
          <p:cNvPr id="9" name="Text 6"/>
          <p:cNvSpPr/>
          <p:nvPr/>
        </p:nvSpPr>
        <p:spPr>
          <a:xfrm>
            <a:off x="969848" y="2466017"/>
            <a:ext cx="77455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00FFFF"/>
                </a:solidFill>
              </a:rPr>
              <a:t>Simplify the Model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969848" y="2858923"/>
            <a:ext cx="7745527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Reduce degrees, features, or tree depth to limit complexity.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428625" y="3324690"/>
            <a:ext cx="3269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00FF"/>
                </a:solidFill>
              </a:rPr>
              <a:t>03</a:t>
            </a:r>
            <a:endParaRPr lang="en-US" sz="2016" dirty="0"/>
          </a:p>
        </p:txBody>
      </p:sp>
      <p:sp>
        <p:nvSpPr>
          <p:cNvPr id="12" name="Text 9"/>
          <p:cNvSpPr/>
          <p:nvPr/>
        </p:nvSpPr>
        <p:spPr>
          <a:xfrm>
            <a:off x="969848" y="3324690"/>
            <a:ext cx="77455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00FFFF"/>
                </a:solidFill>
              </a:rPr>
              <a:t>Regularization</a:t>
            </a:r>
            <a:endParaRPr lang="en-US" sz="1808" dirty="0"/>
          </a:p>
        </p:txBody>
      </p:sp>
      <p:sp>
        <p:nvSpPr>
          <p:cNvPr id="13" name="Text 10"/>
          <p:cNvSpPr/>
          <p:nvPr/>
        </p:nvSpPr>
        <p:spPr>
          <a:xfrm>
            <a:off x="969848" y="3717596"/>
            <a:ext cx="7745527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Penalize large weights (L1/L2) to constrain the model.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428625" y="4183363"/>
            <a:ext cx="3269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00FF"/>
                </a:solidFill>
              </a:rPr>
              <a:t>04</a:t>
            </a:r>
            <a:endParaRPr lang="en-US" sz="2016" dirty="0"/>
          </a:p>
        </p:txBody>
      </p:sp>
      <p:sp>
        <p:nvSpPr>
          <p:cNvPr id="15" name="Text 12"/>
          <p:cNvSpPr/>
          <p:nvPr/>
        </p:nvSpPr>
        <p:spPr>
          <a:xfrm>
            <a:off x="969848" y="4183363"/>
            <a:ext cx="7745527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00FFFF"/>
                </a:solidFill>
              </a:rPr>
              <a:t>Early Stopping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969848" y="4576270"/>
            <a:ext cx="7745527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Stop training at validation peak to prevent memorization.</a:t>
            </a:r>
            <a:endParaRPr lang="en-US" sz="148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" y="0"/>
            <a:ext cx="9144000" cy="5348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L1 Regularization (Lasso)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Feature Selector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685953"/>
            <a:ext cx="4714875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The Mechanism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428625" y="2066358"/>
            <a:ext cx="4714875" cy="4800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Adds a penalty equal to the </a:t>
            </a:r>
            <a:r>
              <a:rPr lang="en-US" sz="1193" b="1" dirty="0">
                <a:solidFill>
                  <a:srgbClr val="00FFFF"/>
                </a:solidFill>
              </a:rPr>
              <a:t>Absolute Value</a:t>
            </a:r>
            <a:r>
              <a:rPr lang="en-US" sz="1269" dirty="0">
                <a:solidFill>
                  <a:srgbClr val="CCCCCC"/>
                </a:solidFill>
              </a:rPr>
              <a:t> of the coefficients.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832134"/>
            <a:ext cx="4714875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The Superpower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28625" y="3212539"/>
            <a:ext cx="4714875" cy="24001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It can shrink coefficients completely to </a:t>
            </a:r>
            <a:r>
              <a:rPr lang="en-US" sz="1193" b="1" dirty="0">
                <a:solidFill>
                  <a:srgbClr val="FF00FF"/>
                </a:solidFill>
              </a:rPr>
              <a:t>ZERO</a:t>
            </a:r>
            <a:r>
              <a:rPr lang="en-US" sz="1269" dirty="0">
                <a:solidFill>
                  <a:srgbClr val="CCCCCC"/>
                </a:solidFill>
              </a:rPr>
              <a:t>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3738302"/>
            <a:ext cx="4714875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When to Use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28625" y="4118707"/>
            <a:ext cx="4714875" cy="4800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When you suspect only a few features are actually important (Sparse Models).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5572125" y="1650206"/>
            <a:ext cx="3143250" cy="3270052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57863" y="1835944"/>
            <a:ext cx="2771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888888"/>
                </a:solidFill>
              </a:rPr>
              <a:t>Effect on Weights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5757863" y="2284214"/>
            <a:ext cx="3117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Age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8189472" y="2284214"/>
            <a:ext cx="3401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00"/>
                </a:solidFill>
              </a:rPr>
              <a:t>0.85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5757863" y="2711053"/>
            <a:ext cx="7065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Zip Code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8189472" y="2711053"/>
            <a:ext cx="3401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0.00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5757863" y="3137892"/>
            <a:ext cx="6071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Income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8189472" y="3137892"/>
            <a:ext cx="3401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00"/>
                </a:solidFill>
              </a:rPr>
              <a:t>1.24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5757863" y="3564731"/>
            <a:ext cx="7607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Shoe Size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8189472" y="3564731"/>
            <a:ext cx="3401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0.00</a:t>
            </a:r>
            <a:endParaRPr lang="en-US" sz="1269" dirty="0"/>
          </a:p>
        </p:txBody>
      </p:sp>
      <p:sp>
        <p:nvSpPr>
          <p:cNvPr id="21" name="Shape 18"/>
          <p:cNvSpPr/>
          <p:nvPr/>
        </p:nvSpPr>
        <p:spPr>
          <a:xfrm>
            <a:off x="5757863" y="4205883"/>
            <a:ext cx="2771775" cy="514350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00738" y="4348758"/>
            <a:ext cx="24860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FF"/>
                </a:solidFill>
              </a:rPr>
              <a:t>Automatic Feature Selection</a:t>
            </a:r>
            <a:endParaRPr lang="en-US" sz="109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956DA4-597F-82DB-FE30-D4FEC69F7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4" y="2566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L2 Regularization (Ridge)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Weight Shrinker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685800" y="1782840"/>
            <a:ext cx="367188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The Mechanism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685800" y="2240040"/>
            <a:ext cx="3671888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CCCCCC"/>
                </a:solidFill>
              </a:rPr>
              <a:t>Adds a penalty equal to the </a:t>
            </a:r>
            <a:r>
              <a:rPr lang="en-US" sz="1397" b="1" dirty="0">
                <a:solidFill>
                  <a:srgbClr val="00FFFF"/>
                </a:solidFill>
              </a:rPr>
              <a:t>Square</a:t>
            </a:r>
            <a:r>
              <a:rPr lang="en-US" sz="1486" dirty="0">
                <a:solidFill>
                  <a:srgbClr val="CCCCCC"/>
                </a:solidFill>
              </a:rPr>
              <a:t> of the magnitude of coefficients.</a:t>
            </a:r>
            <a:endParaRPr lang="en-US" sz="1486" dirty="0"/>
          </a:p>
        </p:txBody>
      </p:sp>
      <p:sp>
        <p:nvSpPr>
          <p:cNvPr id="7" name="Shape 4"/>
          <p:cNvSpPr/>
          <p:nvPr/>
        </p:nvSpPr>
        <p:spPr>
          <a:xfrm>
            <a:off x="428625" y="3014411"/>
            <a:ext cx="3929063" cy="1166217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075" y="3193005"/>
            <a:ext cx="35861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888888"/>
                </a:solidFill>
              </a:rPr>
              <a:t>The Analogy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00075" y="3498400"/>
            <a:ext cx="3586163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i="1" dirty="0">
                <a:solidFill>
                  <a:srgbClr val="FFFFFF"/>
                </a:solidFill>
              </a:rPr>
              <a:t>"Like a rubber band pulling coefficients toward zero—never snapping to zero."</a:t>
            </a:r>
            <a:endParaRPr lang="en-US" sz="1377" dirty="0"/>
          </a:p>
        </p:txBody>
      </p:sp>
      <p:sp>
        <p:nvSpPr>
          <p:cNvPr id="10" name="Shape 7"/>
          <p:cNvSpPr/>
          <p:nvPr/>
        </p:nvSpPr>
        <p:spPr>
          <a:xfrm>
            <a:off x="4786313" y="1721644"/>
            <a:ext cx="3929063" cy="754335"/>
          </a:xfrm>
          <a:prstGeom prst="rect">
            <a:avLst/>
          </a:prstGeom>
          <a:solidFill>
            <a:srgbClr val="FF00FF">
              <a:alpha val="5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29188" y="1578769"/>
            <a:ext cx="410766" cy="2911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929188" y="1578769"/>
            <a:ext cx="410766" cy="291108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📉</a:t>
            </a:r>
            <a:endParaRPr lang="en-US" sz="1595" dirty="0"/>
          </a:p>
        </p:txBody>
      </p:sp>
      <p:sp>
        <p:nvSpPr>
          <p:cNvPr id="13" name="Text 10"/>
          <p:cNvSpPr/>
          <p:nvPr/>
        </p:nvSpPr>
        <p:spPr>
          <a:xfrm>
            <a:off x="4900613" y="1864519"/>
            <a:ext cx="3700463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Shrinks Weights:</a:t>
            </a:r>
            <a:r>
              <a:rPr lang="en-US" sz="1377" dirty="0">
                <a:solidFill>
                  <a:srgbClr val="DDDDDD"/>
                </a:solidFill>
              </a:rPr>
              <a:t> Limits feature impact; prevents dominance.</a:t>
            </a:r>
            <a:endParaRPr lang="en-US" sz="1295" dirty="0"/>
          </a:p>
        </p:txBody>
      </p:sp>
      <p:sp>
        <p:nvSpPr>
          <p:cNvPr id="14" name="Shape 11"/>
          <p:cNvSpPr/>
          <p:nvPr/>
        </p:nvSpPr>
        <p:spPr>
          <a:xfrm>
            <a:off x="4786313" y="2590279"/>
            <a:ext cx="3929063" cy="754335"/>
          </a:xfrm>
          <a:prstGeom prst="rect">
            <a:avLst/>
          </a:prstGeom>
          <a:solidFill>
            <a:srgbClr val="FF00FF">
              <a:alpha val="5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29188" y="2447404"/>
            <a:ext cx="410766" cy="2911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4929188" y="2447404"/>
            <a:ext cx="410766" cy="291108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🚫</a:t>
            </a:r>
            <a:endParaRPr lang="en-US" sz="1595" dirty="0"/>
          </a:p>
        </p:txBody>
      </p:sp>
      <p:sp>
        <p:nvSpPr>
          <p:cNvPr id="17" name="Text 14"/>
          <p:cNvSpPr/>
          <p:nvPr/>
        </p:nvSpPr>
        <p:spPr>
          <a:xfrm>
            <a:off x="4900613" y="2733154"/>
            <a:ext cx="3700463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No Zeroing Out:</a:t>
            </a:r>
            <a:r>
              <a:rPr lang="en-US" sz="1377" dirty="0">
                <a:solidFill>
                  <a:srgbClr val="DDDDDD"/>
                </a:solidFill>
              </a:rPr>
              <a:t> Coefficients rarely become exactly zero.</a:t>
            </a:r>
            <a:endParaRPr lang="en-US" sz="1295" dirty="0"/>
          </a:p>
        </p:txBody>
      </p:sp>
      <p:sp>
        <p:nvSpPr>
          <p:cNvPr id="18" name="Shape 15"/>
          <p:cNvSpPr/>
          <p:nvPr/>
        </p:nvSpPr>
        <p:spPr>
          <a:xfrm>
            <a:off x="4786313" y="3458914"/>
            <a:ext cx="3929063" cy="754335"/>
          </a:xfrm>
          <a:prstGeom prst="rect">
            <a:avLst/>
          </a:prstGeom>
          <a:solidFill>
            <a:srgbClr val="FF00FF">
              <a:alpha val="5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29188" y="3316039"/>
            <a:ext cx="410766" cy="2911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4929188" y="3316039"/>
            <a:ext cx="410766" cy="291108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✅</a:t>
            </a:r>
            <a:endParaRPr lang="en-US" sz="1595" dirty="0"/>
          </a:p>
        </p:txBody>
      </p:sp>
      <p:sp>
        <p:nvSpPr>
          <p:cNvPr id="21" name="Text 18"/>
          <p:cNvSpPr/>
          <p:nvPr/>
        </p:nvSpPr>
        <p:spPr>
          <a:xfrm>
            <a:off x="4900613" y="3601789"/>
            <a:ext cx="3700463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Best Use Case:</a:t>
            </a:r>
            <a:r>
              <a:rPr lang="en-US" sz="1377" dirty="0">
                <a:solidFill>
                  <a:srgbClr val="DDDDDD"/>
                </a:solidFill>
              </a:rPr>
              <a:t> Dense data with many small contributors.</a:t>
            </a:r>
            <a:endParaRPr lang="en-US" sz="1295" dirty="0"/>
          </a:p>
        </p:txBody>
      </p:sp>
      <p:sp>
        <p:nvSpPr>
          <p:cNvPr id="22" name="Text 19"/>
          <p:cNvSpPr/>
          <p:nvPr/>
        </p:nvSpPr>
        <p:spPr>
          <a:xfrm>
            <a:off x="428625" y="4341837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Penalty Term: λ * Σ(slope)²</a:t>
            </a:r>
            <a:endParaRPr lang="en-US" sz="94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Early Stopping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"Quit While You're Ahead" Strategy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635794" y="1740089"/>
            <a:ext cx="37218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FF"/>
                </a:solidFill>
              </a:rPr>
              <a:t>1. Monitor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35794" y="2124066"/>
            <a:ext cx="37218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Track validation error after every epoch (training cycle).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35794" y="2818405"/>
            <a:ext cx="37218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2. Detect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635794" y="3202381"/>
            <a:ext cx="37218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Notice when validation error stops decreasing and starts to rise.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635794" y="3896720"/>
            <a:ext cx="37218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00"/>
                </a:solidFill>
              </a:rPr>
              <a:t>3. Stop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635794" y="4280697"/>
            <a:ext cx="37218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Halt training immediately to prevent the model from memorizing noise.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929188" y="1785938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888888"/>
                </a:solidFill>
              </a:rPr>
              <a:t>Error vs. Epochs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7631869" y="1785938"/>
            <a:ext cx="8315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Training Error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631869" y="2032397"/>
            <a:ext cx="9406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Validation Error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157788" y="1984177"/>
            <a:ext cx="2720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Error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8046374" y="4545211"/>
            <a:ext cx="3832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Epochs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6893412" y="2395110"/>
            <a:ext cx="834256" cy="266105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93412" y="2395110"/>
            <a:ext cx="834256" cy="266105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00"/>
                </a:solidFill>
              </a:rPr>
              <a:t>STOP HERE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549243" y="4279106"/>
            <a:ext cx="8074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Underfitting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7394339" y="4279106"/>
            <a:ext cx="715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Overfitting</a:t>
            </a:r>
            <a:endParaRPr lang="en-US" sz="72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Dropout &amp; Ensemble Preview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Advanced Variance Reduction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607344"/>
            <a:ext cx="3929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FF"/>
                </a:solidFill>
              </a:rPr>
              <a:t>Dropout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2087761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888888"/>
                </a:solidFill>
              </a:rPr>
              <a:t>(Neural Networks)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536031"/>
            <a:ext cx="39290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Randomly drop neurons per pass to discourage reliance on single features.</a:t>
            </a:r>
            <a:endParaRPr lang="en-US" sz="1486" dirty="0"/>
          </a:p>
        </p:txBody>
      </p:sp>
      <p:sp>
        <p:nvSpPr>
          <p:cNvPr id="8" name="Shape 5"/>
          <p:cNvSpPr/>
          <p:nvPr/>
        </p:nvSpPr>
        <p:spPr>
          <a:xfrm>
            <a:off x="428625" y="3264694"/>
            <a:ext cx="3929063" cy="671513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3264694"/>
            <a:ext cx="42863" cy="671513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28638" y="3364706"/>
            <a:ext cx="37290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FFFF"/>
                </a:solidFill>
              </a:rPr>
              <a:t>The Mechanism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28638" y="3602236"/>
            <a:ext cx="37290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Forced robustness via random noise.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1607344"/>
            <a:ext cx="3929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00FF"/>
                </a:solidFill>
              </a:rPr>
              <a:t>Ensembles</a:t>
            </a:r>
            <a:endParaRPr lang="en-US" sz="2121" dirty="0"/>
          </a:p>
        </p:txBody>
      </p:sp>
      <p:sp>
        <p:nvSpPr>
          <p:cNvPr id="13" name="Text 10"/>
          <p:cNvSpPr/>
          <p:nvPr/>
        </p:nvSpPr>
        <p:spPr>
          <a:xfrm>
            <a:off x="4786313" y="2087761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888888"/>
                </a:solidFill>
              </a:rPr>
              <a:t>(Tree-Based Models)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4786313" y="2536031"/>
            <a:ext cx="39290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Combine multiple models; errors cancel, signal remains.</a:t>
            </a:r>
            <a:endParaRPr lang="en-US" sz="1486" dirty="0"/>
          </a:p>
        </p:txBody>
      </p:sp>
      <p:sp>
        <p:nvSpPr>
          <p:cNvPr id="15" name="Shape 12"/>
          <p:cNvSpPr/>
          <p:nvPr/>
        </p:nvSpPr>
        <p:spPr>
          <a:xfrm>
            <a:off x="4786313" y="3264694"/>
            <a:ext cx="3929063" cy="671513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3264694"/>
            <a:ext cx="42863" cy="67151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7" name="Text 14"/>
          <p:cNvSpPr/>
          <p:nvPr/>
        </p:nvSpPr>
        <p:spPr>
          <a:xfrm>
            <a:off x="4886325" y="3364706"/>
            <a:ext cx="37290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00FF"/>
                </a:solidFill>
              </a:rPr>
              <a:t>The Mechanism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886325" y="3602236"/>
            <a:ext cx="37290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Crowd wisdom reduces variance.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28625" y="4007644"/>
            <a:ext cx="8286750" cy="278606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888888"/>
                </a:solidFill>
              </a:rPr>
              <a:t>Coming Up: We will dive deep into Ensembles (Random Forests) in Module 09.</a:t>
            </a:r>
            <a:endParaRPr lang="en-US" sz="1159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8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Decision Framework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The Diagnosis Checklist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714375" y="1935956"/>
            <a:ext cx="28575" cy="32827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793081"/>
            <a:ext cx="4714875" cy="120045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793081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5"/>
          <p:cNvSpPr/>
          <p:nvPr/>
        </p:nvSpPr>
        <p:spPr>
          <a:xfrm>
            <a:off x="5136356" y="1793081"/>
            <a:ext cx="7144" cy="120045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986394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793081"/>
            <a:ext cx="42863" cy="1200457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228990"/>
            <a:ext cx="314325" cy="314325"/>
          </a:xfrm>
          <a:prstGeom prst="ellipse">
            <a:avLst/>
          </a:prstGeom>
          <a:solidFill>
            <a:srgbClr val="000000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228990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FF"/>
                </a:solidFill>
              </a:rPr>
              <a:t>1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000125" y="1907381"/>
            <a:ext cx="39647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Check Training Score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1000125" y="2252067"/>
            <a:ext cx="3964781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Is it low? 
</a:t>
            </a:r>
            <a:r>
              <a:rPr lang="en-US" sz="1090" b="1" dirty="0">
                <a:solidFill>
                  <a:srgbClr val="00FFFF"/>
                </a:solidFill>
              </a:rPr>
              <a:t>YES:</a:t>
            </a:r>
            <a:r>
              <a:rPr lang="en-US" sz="1159" dirty="0">
                <a:solidFill>
                  <a:srgbClr val="CCCCCC"/>
                </a:solidFill>
              </a:rPr>
              <a:t> High Bias. Increase Complexity.
</a:t>
            </a:r>
            <a:r>
              <a:rPr lang="en-US" sz="1159" dirty="0">
                <a:solidFill>
                  <a:srgbClr val="888888"/>
                </a:solidFill>
              </a:rPr>
              <a:t>NO:</a:t>
            </a:r>
            <a:r>
              <a:rPr lang="en-US" sz="1159" dirty="0">
                <a:solidFill>
                  <a:srgbClr val="CCCCCC"/>
                </a:solidFill>
              </a:rPr>
              <a:t> Proceed to Step 2.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428625" y="3064976"/>
            <a:ext cx="4714875" cy="120045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3064976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Shape 14"/>
          <p:cNvSpPr/>
          <p:nvPr/>
        </p:nvSpPr>
        <p:spPr>
          <a:xfrm>
            <a:off x="5136356" y="3064976"/>
            <a:ext cx="7144" cy="120045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4258289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064976"/>
            <a:ext cx="42863" cy="1200457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3500884"/>
            <a:ext cx="314325" cy="314325"/>
          </a:xfrm>
          <a:prstGeom prst="ellipse">
            <a:avLst/>
          </a:prstGeom>
          <a:solidFill>
            <a:srgbClr val="000000"/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" y="3500884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2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1000125" y="3179276"/>
            <a:ext cx="39647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Check Validation Gap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1000125" y="3523962"/>
            <a:ext cx="3964781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Is the gap large? 
</a:t>
            </a:r>
            <a:r>
              <a:rPr lang="en-US" sz="1090" b="1" dirty="0">
                <a:solidFill>
                  <a:srgbClr val="FF00FF"/>
                </a:solidFill>
              </a:rPr>
              <a:t>YES:</a:t>
            </a:r>
            <a:r>
              <a:rPr lang="en-US" sz="1159" dirty="0">
                <a:solidFill>
                  <a:srgbClr val="CCCCCC"/>
                </a:solidFill>
              </a:rPr>
              <a:t> High Variance. Add Data / Regularize.
</a:t>
            </a:r>
            <a:r>
              <a:rPr lang="en-US" sz="1159" dirty="0">
                <a:solidFill>
                  <a:srgbClr val="888888"/>
                </a:solidFill>
              </a:rPr>
              <a:t>NO:</a:t>
            </a:r>
            <a:r>
              <a:rPr lang="en-US" sz="1159" dirty="0">
                <a:solidFill>
                  <a:srgbClr val="CCCCCC"/>
                </a:solidFill>
              </a:rPr>
              <a:t> Proceed to Step 3.</a:t>
            </a:r>
            <a:endParaRPr lang="en-US" sz="1159" dirty="0"/>
          </a:p>
        </p:txBody>
      </p:sp>
      <p:sp>
        <p:nvSpPr>
          <p:cNvPr id="24" name="Shape 21"/>
          <p:cNvSpPr/>
          <p:nvPr/>
        </p:nvSpPr>
        <p:spPr>
          <a:xfrm>
            <a:off x="428625" y="4336870"/>
            <a:ext cx="4714875" cy="99616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4336870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5136356" y="4336870"/>
            <a:ext cx="7144" cy="99616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5325889"/>
            <a:ext cx="4714875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5"/>
          <p:cNvSpPr/>
          <p:nvPr/>
        </p:nvSpPr>
        <p:spPr>
          <a:xfrm>
            <a:off x="428625" y="4336870"/>
            <a:ext cx="42863" cy="996162"/>
          </a:xfrm>
          <a:prstGeom prst="rect">
            <a:avLst/>
          </a:prstGeom>
          <a:solidFill>
            <a:srgbClr val="00FF00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4670645"/>
            <a:ext cx="314325" cy="314325"/>
          </a:xfrm>
          <a:prstGeom prst="ellipse">
            <a:avLst/>
          </a:prstGeom>
          <a:solidFill>
            <a:srgbClr val="000000"/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" y="4670645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00"/>
                </a:solidFill>
              </a:rPr>
              <a:t>3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1000125" y="4451170"/>
            <a:ext cx="39647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Evaluate &amp; Deploy</a:t>
            </a:r>
            <a:endParaRPr lang="en-US" sz="1397" dirty="0"/>
          </a:p>
        </p:txBody>
      </p:sp>
      <p:sp>
        <p:nvSpPr>
          <p:cNvPr id="32" name="Text 29"/>
          <p:cNvSpPr/>
          <p:nvPr/>
        </p:nvSpPr>
        <p:spPr>
          <a:xfrm>
            <a:off x="1000125" y="4795856"/>
            <a:ext cx="3964781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CCCCCC"/>
                </a:solidFill>
              </a:rPr>
              <a:t>If both scores are high and the gap is small, you have a </a:t>
            </a:r>
            <a:r>
              <a:rPr lang="en-US" sz="1090" b="1" dirty="0">
                <a:solidFill>
                  <a:srgbClr val="00FF00"/>
                </a:solidFill>
              </a:rPr>
              <a:t>Good Fit</a:t>
            </a:r>
            <a:r>
              <a:rPr lang="en-US" sz="1159" dirty="0">
                <a:solidFill>
                  <a:srgbClr val="CCCCCC"/>
                </a:solidFill>
              </a:rPr>
              <a:t>.</a:t>
            </a:r>
            <a:endParaRPr lang="en-US" sz="1159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1996790"/>
            <a:ext cx="1041062" cy="15537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572125" y="4968590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</a:rPr>
              <a:t>Systematic diagnosis leads to robust models.</a:t>
            </a:r>
            <a:endParaRPr lang="en-US" sz="942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2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FFFF"/>
                </a:solidFill>
              </a:rPr>
              <a:t>Lab Preview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2335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Hands-on: Diagnosing &amp; Fixing Models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1578769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78656" y="1580555"/>
            <a:ext cx="92932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Diagnose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607986" y="1580555"/>
            <a:ext cx="18686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via learning curves.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28625" y="1973098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78656" y="1974884"/>
            <a:ext cx="11909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Ridge/Lasso</a:t>
            </a: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1869625" y="1974884"/>
            <a:ext cx="146340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Regularization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333034" y="1974884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.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428625" y="2367428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678656" y="2369214"/>
            <a:ext cx="122596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Visualize the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1904619" y="2369214"/>
            <a:ext cx="11041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Sweet Spot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3008774" y="2369214"/>
            <a:ext cx="5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.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428625" y="2761757"/>
            <a:ext cx="11441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&gt;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678656" y="2763543"/>
            <a:ext cx="3391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DDDDDD"/>
                </a:solidFill>
              </a:rPr>
              <a:t>Compare polynomial degrees for fit.</a:t>
            </a:r>
            <a:endParaRPr lang="en-US" sz="1486" dirty="0"/>
          </a:p>
        </p:txBody>
      </p:sp>
      <p:sp>
        <p:nvSpPr>
          <p:cNvPr id="18" name="Shape 15"/>
          <p:cNvSpPr/>
          <p:nvPr/>
        </p:nvSpPr>
        <p:spPr>
          <a:xfrm>
            <a:off x="428625" y="3241811"/>
            <a:ext cx="3929063" cy="41969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241811"/>
            <a:ext cx="392906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7"/>
          <p:cNvSpPr/>
          <p:nvPr/>
        </p:nvSpPr>
        <p:spPr>
          <a:xfrm>
            <a:off x="4350544" y="3241811"/>
            <a:ext cx="7144" cy="41969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654363"/>
            <a:ext cx="392906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241811"/>
            <a:ext cx="42863" cy="419695"/>
          </a:xfrm>
          <a:prstGeom prst="rect">
            <a:avLst/>
          </a:prstGeom>
          <a:solidFill>
            <a:srgbClr val="00FF00"/>
          </a:solidFill>
          <a:ln/>
        </p:spPr>
      </p:sp>
      <p:sp>
        <p:nvSpPr>
          <p:cNvPr id="23" name="Text 20"/>
          <p:cNvSpPr/>
          <p:nvPr/>
        </p:nvSpPr>
        <p:spPr>
          <a:xfrm>
            <a:off x="514350" y="3327536"/>
            <a:ext cx="37576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FFFFFF"/>
                </a:solidFill>
              </a:rPr>
              <a:t>We'll tune a failing model to perfection.</a:t>
            </a:r>
            <a:endParaRPr lang="en-US" sz="1269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1607344"/>
            <a:ext cx="1104826" cy="15537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86313" y="4707731"/>
            <a:ext cx="3929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Next Step: Practical Application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1911</Words>
  <Application>Microsoft Office PowerPoint</Application>
  <PresentationFormat>On-screen Show (16:9)</PresentationFormat>
  <Paragraphs>480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viswanatha.rao</cp:lastModifiedBy>
  <cp:revision>5</cp:revision>
  <dcterms:created xsi:type="dcterms:W3CDTF">2026-01-06T09:13:10Z</dcterms:created>
  <dcterms:modified xsi:type="dcterms:W3CDTF">2026-04-03T00:05:22Z</dcterms:modified>
</cp:coreProperties>
</file>