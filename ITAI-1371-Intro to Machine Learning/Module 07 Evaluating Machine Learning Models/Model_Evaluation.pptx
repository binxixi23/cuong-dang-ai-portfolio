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11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278731"/>
            <a:ext cx="4143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kern="0" spc="2" dirty="0">
                <a:solidFill>
                  <a:srgbClr val="FF00FF"/>
                </a:solidFill>
              </a:rPr>
              <a:t>Module 07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764506"/>
            <a:ext cx="4143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00FFFF"/>
                </a:solidFill>
              </a:rPr>
              <a:t>Model
Evaluation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428625" y="3636169"/>
            <a:ext cx="4143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Beyond Accuracy: Measuring What Matters</a:t>
            </a:r>
            <a:endParaRPr lang="en-US" sz="1269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037" y="785813"/>
            <a:ext cx="1245301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Accuracy Lie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42975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When 99% is a failing grade.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971675"/>
            <a:ext cx="4114800" cy="1628775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0063" y="2200275"/>
            <a:ext cx="3686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The Scenario: Fraud Detection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00063" y="2544961"/>
            <a:ext cx="1282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Total Transactions: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82812" y="2544961"/>
            <a:ext cx="3676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1,000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00063" y="2859286"/>
            <a:ext cx="7899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Legitimate: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90033" y="2859286"/>
            <a:ext cx="2451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4ADE80"/>
                </a:solidFill>
              </a:rPr>
              <a:t>999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00063" y="3173611"/>
            <a:ext cx="8076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Fraudulent: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07753" y="3173611"/>
            <a:ext cx="817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1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285750" y="3800475"/>
            <a:ext cx="41148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 built a "Lazy Model" that simply predicts </a:t>
            </a:r>
            <a:r>
              <a:rPr lang="en-US" sz="1193" b="1" dirty="0">
                <a:solidFill>
                  <a:srgbClr val="FFFFFF"/>
                </a:solidFill>
              </a:rPr>
              <a:t>"Legitimate"</a:t>
            </a:r>
            <a:r>
              <a:rPr lang="en-US" sz="1269" dirty="0">
                <a:solidFill>
                  <a:srgbClr val="FFFFFF"/>
                </a:solidFill>
              </a:rPr>
              <a:t> for absolutely everyone.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6137430" y="1685925"/>
            <a:ext cx="132681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294" b="1" dirty="0">
                <a:solidFill>
                  <a:srgbClr val="00FFFF"/>
                </a:solidFill>
              </a:rPr>
              <a:t>99.9%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6137430" y="2371725"/>
            <a:ext cx="13268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Accuracy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6254688" y="3228975"/>
            <a:ext cx="109232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294" b="1" dirty="0">
                <a:solidFill>
                  <a:srgbClr val="FF00FF"/>
                </a:solidFill>
              </a:rPr>
              <a:t>0%</a:t>
            </a:r>
            <a:endParaRPr lang="en-US" sz="3294" dirty="0"/>
          </a:p>
        </p:txBody>
      </p:sp>
      <p:sp>
        <p:nvSpPr>
          <p:cNvPr id="17" name="Text 14"/>
          <p:cNvSpPr/>
          <p:nvPr/>
        </p:nvSpPr>
        <p:spPr>
          <a:xfrm>
            <a:off x="6254688" y="3914775"/>
            <a:ext cx="1092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Fraud Caught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973068" y="4314825"/>
            <a:ext cx="16555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00FF"/>
                </a:solidFill>
              </a:rPr>
              <a:t>Useless Model.</a:t>
            </a:r>
            <a:endParaRPr lang="en-US" sz="160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Evaluation Toolkit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Different problems require different rulers.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123" y="2950369"/>
            <a:ext cx="124005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43450" y="1343025"/>
            <a:ext cx="2073473" cy="35004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Classification Metrics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4743450" y="1800225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43450" y="1800225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Accuracy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6854428" y="1800225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4428" y="1800225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Precision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743450" y="2243138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43450" y="2243138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Recall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6854428" y="2243138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4428" y="2243138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F1-Score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743450" y="2686050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43450" y="2686050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ROC / AUC</a:t>
            </a:r>
            <a:endParaRPr lang="en-US" sz="942" dirty="0"/>
          </a:p>
        </p:txBody>
      </p:sp>
      <p:sp>
        <p:nvSpPr>
          <p:cNvPr id="17" name="Shape 13"/>
          <p:cNvSpPr/>
          <p:nvPr/>
        </p:nvSpPr>
        <p:spPr>
          <a:xfrm>
            <a:off x="6854428" y="2686050"/>
            <a:ext cx="2003822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4428" y="2686050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Log Loss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4743450" y="3236119"/>
            <a:ext cx="1854054" cy="35004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Regression Metrics</a:t>
            </a:r>
            <a:endParaRPr lang="en-US" sz="1397" dirty="0"/>
          </a:p>
        </p:txBody>
      </p:sp>
      <p:sp>
        <p:nvSpPr>
          <p:cNvPr id="20" name="Shape 16"/>
          <p:cNvSpPr/>
          <p:nvPr/>
        </p:nvSpPr>
        <p:spPr>
          <a:xfrm>
            <a:off x="4743450" y="3693319"/>
            <a:ext cx="2003822" cy="350044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43450" y="3693319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MAE</a:t>
            </a:r>
            <a:endParaRPr lang="en-US" sz="942" dirty="0"/>
          </a:p>
        </p:txBody>
      </p:sp>
      <p:sp>
        <p:nvSpPr>
          <p:cNvPr id="22" name="Shape 18"/>
          <p:cNvSpPr/>
          <p:nvPr/>
        </p:nvSpPr>
        <p:spPr>
          <a:xfrm>
            <a:off x="6854428" y="3693319"/>
            <a:ext cx="2003822" cy="350044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4428" y="3693319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MSE</a:t>
            </a:r>
            <a:endParaRPr lang="en-US" sz="942" dirty="0"/>
          </a:p>
        </p:txBody>
      </p:sp>
      <p:sp>
        <p:nvSpPr>
          <p:cNvPr id="24" name="Shape 20"/>
          <p:cNvSpPr/>
          <p:nvPr/>
        </p:nvSpPr>
        <p:spPr>
          <a:xfrm>
            <a:off x="4743450" y="4136231"/>
            <a:ext cx="2003822" cy="350044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43450" y="4136231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RMSE</a:t>
            </a:r>
            <a:endParaRPr lang="en-US" sz="942" dirty="0"/>
          </a:p>
        </p:txBody>
      </p:sp>
      <p:sp>
        <p:nvSpPr>
          <p:cNvPr id="26" name="Shape 22"/>
          <p:cNvSpPr/>
          <p:nvPr/>
        </p:nvSpPr>
        <p:spPr>
          <a:xfrm>
            <a:off x="6854428" y="4136231"/>
            <a:ext cx="2003822" cy="350044"/>
          </a:xfrm>
          <a:prstGeom prst="rect">
            <a:avLst/>
          </a:prstGeom>
          <a:solidFill>
            <a:srgbClr val="00FFFF">
              <a:alpha val="10000"/>
            </a:srgbClr>
          </a:solidFill>
          <a:ln w="9144">
            <a:solidFill>
              <a:srgbClr val="00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4428" y="4136231"/>
            <a:ext cx="2003822" cy="35004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R-Squared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Confusion Matrix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It's not actually confusing.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621924" y="1414463"/>
            <a:ext cx="48075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0E0E0"/>
                </a:solidFill>
              </a:rPr>
              <a:t>PREDICTED CLASS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1731935" y="1833962"/>
            <a:ext cx="835986" cy="1428750"/>
          </a:xfrm>
          <a:prstGeom prst="rect">
            <a:avLst/>
          </a:prstGeom>
          <a:solidFill>
            <a:srgbClr val="00FF00">
              <a:alpha val="10000"/>
            </a:srgbClr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4719" y="2223297"/>
            <a:ext cx="31041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FF00"/>
                </a:solidFill>
              </a:rPr>
              <a:t>TP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1764221" y="2680497"/>
            <a:ext cx="7714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True Positive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215171" y="1891112"/>
            <a:ext cx="2956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Correct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2626052" y="1814122"/>
            <a:ext cx="2368069" cy="1428750"/>
          </a:xfrm>
          <a:prstGeom prst="rect">
            <a:avLst/>
          </a:prstGeom>
          <a:solidFill>
            <a:srgbClr val="FF00FF">
              <a:alpha val="10000"/>
            </a:srgbClr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48246" y="2223297"/>
            <a:ext cx="35029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FN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3384123" y="2680497"/>
            <a:ext cx="8785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False Negative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452811" y="1891112"/>
            <a:ext cx="4974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Type II Error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1731935" y="3284145"/>
            <a:ext cx="835986" cy="1428750"/>
          </a:xfrm>
          <a:prstGeom prst="rect">
            <a:avLst/>
          </a:prstGeom>
          <a:solidFill>
            <a:srgbClr val="FF00FF">
              <a:alpha val="10000"/>
            </a:srgbClr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84282" y="3723484"/>
            <a:ext cx="30271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00FF"/>
                </a:solidFill>
              </a:rPr>
              <a:t>FP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1731935" y="4180684"/>
            <a:ext cx="8074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False Positive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013778" y="3391300"/>
            <a:ext cx="4684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Type I Error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2639359" y="3262712"/>
            <a:ext cx="2382357" cy="1428750"/>
          </a:xfrm>
          <a:prstGeom prst="rect">
            <a:avLst/>
          </a:prstGeom>
          <a:solidFill>
            <a:srgbClr val="00FF00">
              <a:alpha val="10000"/>
            </a:srgbClr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22964" y="3723484"/>
            <a:ext cx="35799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FF00"/>
                </a:solidFill>
              </a:rPr>
              <a:t>TN</a:t>
            </a:r>
            <a:endParaRPr lang="en-US" sz="1808" dirty="0"/>
          </a:p>
        </p:txBody>
      </p:sp>
      <p:sp>
        <p:nvSpPr>
          <p:cNvPr id="25" name="Text 22"/>
          <p:cNvSpPr/>
          <p:nvPr/>
        </p:nvSpPr>
        <p:spPr>
          <a:xfrm>
            <a:off x="3380690" y="4180684"/>
            <a:ext cx="8425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AAAAAA"/>
                </a:solidFill>
              </a:rPr>
              <a:t>True Negative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640390" y="3391300"/>
            <a:ext cx="2956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Correct</a:t>
            </a:r>
            <a:endParaRPr lang="en-US" sz="62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8C45A8-E0AE-4795-AC93-728846675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828" y="2019010"/>
            <a:ext cx="2286319" cy="1486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Reading the Matrix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Decoding the Quadrants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343025"/>
            <a:ext cx="4214813" cy="1685925"/>
          </a:xfrm>
          <a:prstGeom prst="rect">
            <a:avLst/>
          </a:prstGeom>
          <a:solidFill>
            <a:srgbClr val="00FFFF">
              <a:alpha val="5000"/>
            </a:srgbClr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1668066"/>
            <a:ext cx="3929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True Positive (TP)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2039541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We predicted </a:t>
            </a:r>
            <a:r>
              <a:rPr lang="en-US" sz="987" b="1" dirty="0">
                <a:solidFill>
                  <a:srgbClr val="E0E0E0"/>
                </a:solidFill>
              </a:rPr>
              <a:t>YES</a:t>
            </a:r>
            <a:r>
              <a:rPr lang="en-US" sz="1050" dirty="0">
                <a:solidFill>
                  <a:srgbClr val="E0E0E0"/>
                </a:solidFill>
              </a:rPr>
              <a:t>,
 and it actually was </a:t>
            </a:r>
            <a:r>
              <a:rPr lang="en-US" sz="987" b="1" dirty="0">
                <a:solidFill>
                  <a:srgbClr val="E0E0E0"/>
                </a:solidFill>
              </a:rPr>
              <a:t>YES</a:t>
            </a:r>
            <a:r>
              <a:rPr lang="en-US" sz="1050" dirty="0">
                <a:solidFill>
                  <a:srgbClr val="E0E0E0"/>
                </a:solidFill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51102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FFFFFF">
                    <a:alpha val="80000"/>
                  </a:srgbClr>
                </a:solidFill>
              </a:rPr>
              <a:t>"The fire alarm rang, and there was a fire."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643438" y="1343025"/>
            <a:ext cx="4214813" cy="1685925"/>
          </a:xfrm>
          <a:prstGeom prst="rect">
            <a:avLst/>
          </a:prstGeom>
          <a:solidFill>
            <a:srgbClr val="FF00FF">
              <a:alpha val="5000"/>
            </a:srgbClr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6313" y="1660922"/>
            <a:ext cx="3929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False Positive (FP)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2032397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We predicted </a:t>
            </a:r>
            <a:r>
              <a:rPr lang="en-US" sz="987" b="1" dirty="0">
                <a:solidFill>
                  <a:srgbClr val="E0E0E0"/>
                </a:solidFill>
              </a:rPr>
              <a:t>YES</a:t>
            </a:r>
            <a:r>
              <a:rPr lang="en-US" sz="1050" dirty="0">
                <a:solidFill>
                  <a:srgbClr val="E0E0E0"/>
                </a:solidFill>
              </a:rPr>
              <a:t>,
 but it actually was </a:t>
            </a:r>
            <a:r>
              <a:rPr lang="en-US" sz="987" b="1" dirty="0">
                <a:solidFill>
                  <a:srgbClr val="E0E0E0"/>
                </a:solidFill>
              </a:rPr>
              <a:t>NO</a:t>
            </a:r>
            <a:r>
              <a:rPr lang="en-US" sz="1050" dirty="0">
                <a:solidFill>
                  <a:srgbClr val="E0E0E0"/>
                </a:solidFill>
              </a:rPr>
              <a:t>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86313" y="2503884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FFFFFF">
                    <a:alpha val="80000"/>
                  </a:srgbClr>
                </a:solidFill>
              </a:rPr>
              <a:t>"The fire alarm rang, but it was just toast." (False Alarm)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285750" y="3157538"/>
            <a:ext cx="4214813" cy="1700213"/>
          </a:xfrm>
          <a:prstGeom prst="rect">
            <a:avLst/>
          </a:prstGeom>
          <a:solidFill>
            <a:srgbClr val="FF00FF">
              <a:alpha val="5000"/>
            </a:srgbClr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3489722"/>
            <a:ext cx="3929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False Negative (FN)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28625" y="3861197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We predicted </a:t>
            </a:r>
            <a:r>
              <a:rPr lang="en-US" sz="987" b="1" dirty="0">
                <a:solidFill>
                  <a:srgbClr val="E0E0E0"/>
                </a:solidFill>
              </a:rPr>
              <a:t>NO</a:t>
            </a:r>
            <a:r>
              <a:rPr lang="en-US" sz="1050" dirty="0">
                <a:solidFill>
                  <a:srgbClr val="E0E0E0"/>
                </a:solidFill>
              </a:rPr>
              <a:t>,
 but it actually was </a:t>
            </a:r>
            <a:r>
              <a:rPr lang="en-US" sz="987" b="1" dirty="0">
                <a:solidFill>
                  <a:srgbClr val="E0E0E0"/>
                </a:solidFill>
              </a:rPr>
              <a:t>YES</a:t>
            </a:r>
            <a:r>
              <a:rPr lang="en-US" sz="1050" dirty="0">
                <a:solidFill>
                  <a:srgbClr val="E0E0E0"/>
                </a:solidFill>
              </a:rPr>
              <a:t>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8625" y="4332684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FFFFFF">
                    <a:alpha val="80000"/>
                  </a:srgbClr>
                </a:solidFill>
              </a:rPr>
              <a:t>"The house burned down, but the alarm stayed silent." (Miss)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643438" y="3157538"/>
            <a:ext cx="4214813" cy="1700213"/>
          </a:xfrm>
          <a:prstGeom prst="rect">
            <a:avLst/>
          </a:prstGeom>
          <a:solidFill>
            <a:srgbClr val="00FFFF">
              <a:alpha val="5000"/>
            </a:srgbClr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86313" y="3496866"/>
            <a:ext cx="3929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True Negative (TN)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4786313" y="3868341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We predicted </a:t>
            </a:r>
            <a:r>
              <a:rPr lang="en-US" sz="987" b="1" dirty="0">
                <a:solidFill>
                  <a:srgbClr val="E0E0E0"/>
                </a:solidFill>
              </a:rPr>
              <a:t>NO</a:t>
            </a:r>
            <a:r>
              <a:rPr lang="en-US" sz="1050" dirty="0">
                <a:solidFill>
                  <a:srgbClr val="E0E0E0"/>
                </a:solidFill>
              </a:rPr>
              <a:t>,
 and it actually was </a:t>
            </a:r>
            <a:r>
              <a:rPr lang="en-US" sz="987" b="1" dirty="0">
                <a:solidFill>
                  <a:srgbClr val="E0E0E0"/>
                </a:solidFill>
              </a:rPr>
              <a:t>NO</a:t>
            </a:r>
            <a:r>
              <a:rPr lang="en-US" sz="1050" dirty="0">
                <a:solidFill>
                  <a:srgbClr val="E0E0E0"/>
                </a:solidFill>
              </a:rPr>
              <a:t>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86313" y="433982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FFFFFF">
                    <a:alpha val="80000"/>
                  </a:srgbClr>
                </a:solidFill>
              </a:rPr>
              <a:t>"Silence. No fire, no alarm. All good."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Accuracy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The most intuitive (and dangerous) metric.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8572500" cy="6429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</a:rPr>
              <a:t>Accuracy = </a:t>
            </a:r>
            <a:r>
              <a:rPr lang="en-US" sz="1704" dirty="0">
                <a:solidFill>
                  <a:srgbClr val="22D3EE"/>
                </a:solidFill>
              </a:rPr>
              <a:t>Correct Predictions</a:t>
            </a:r>
            <a:r>
              <a:rPr lang="en-US" sz="1704" dirty="0">
                <a:solidFill>
                  <a:srgbClr val="E0E0E0"/>
                </a:solidFill>
              </a:rPr>
              <a:t> / </a:t>
            </a:r>
            <a:r>
              <a:rPr lang="en-US" sz="1704" dirty="0">
                <a:solidFill>
                  <a:srgbClr val="9CA3AF"/>
                </a:solidFill>
              </a:rPr>
              <a:t>Total Predictions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285750" y="2343150"/>
            <a:ext cx="4114800" cy="2514600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2343150"/>
            <a:ext cx="28575" cy="2514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2571750"/>
            <a:ext cx="1257970" cy="35004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2D3EE"/>
                </a:solidFill>
              </a:rPr>
              <a:t>When to Use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14350" y="3075384"/>
            <a:ext cx="1073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2D3EE"/>
                </a:solidFill>
              </a:rPr>
              <a:t>✓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734020" y="3075384"/>
            <a:ext cx="2129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Classes are balanced (50/50).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514350" y="3418284"/>
            <a:ext cx="1073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2D3EE"/>
                </a:solidFill>
              </a:rPr>
              <a:t>✓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734020" y="3418284"/>
            <a:ext cx="17817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All errors cost the same.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514350" y="3761184"/>
            <a:ext cx="1073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2D3EE"/>
                </a:solidFill>
              </a:rPr>
              <a:t>✓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734020" y="3761184"/>
            <a:ext cx="19142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General overview needed.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4743450" y="2343150"/>
            <a:ext cx="4114800" cy="2514600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43450" y="2343150"/>
            <a:ext cx="28575" cy="251460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72050" y="2571750"/>
            <a:ext cx="1532195" cy="35004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When to AVOID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4972050" y="3075384"/>
            <a:ext cx="1571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00FF"/>
                </a:solidFill>
              </a:rPr>
              <a:t>⚠</a:t>
            </a:r>
            <a:endParaRPr lang="en-US" sz="1159" dirty="0"/>
          </a:p>
        </p:txBody>
      </p:sp>
      <p:sp>
        <p:nvSpPr>
          <p:cNvPr id="19" name="Text 16"/>
          <p:cNvSpPr/>
          <p:nvPr/>
        </p:nvSpPr>
        <p:spPr>
          <a:xfrm>
            <a:off x="5241559" y="3075384"/>
            <a:ext cx="22053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Imbalanced Data (99% vs 1%).</a:t>
            </a:r>
            <a:endParaRPr lang="en-US" sz="1159" dirty="0"/>
          </a:p>
        </p:txBody>
      </p:sp>
      <p:sp>
        <p:nvSpPr>
          <p:cNvPr id="20" name="Text 17"/>
          <p:cNvSpPr/>
          <p:nvPr/>
        </p:nvSpPr>
        <p:spPr>
          <a:xfrm>
            <a:off x="4972050" y="3418284"/>
            <a:ext cx="1571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00FF"/>
                </a:solidFill>
              </a:rPr>
              <a:t>⚠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5241559" y="3418284"/>
            <a:ext cx="12219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Fraud Detection.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4972050" y="3761184"/>
            <a:ext cx="1571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00FF"/>
                </a:solidFill>
              </a:rPr>
              <a:t>⚠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5241559" y="3761184"/>
            <a:ext cx="132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Cancer Diagnosis.</a:t>
            </a:r>
            <a:endParaRPr lang="en-US" sz="115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Precision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The "Boy Who Cried Wolf" Metric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8572500" cy="56005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E0E0E0"/>
                </a:solidFill>
              </a:rPr>
              <a:t>"Of all the times we predicted </a:t>
            </a:r>
            <a:r>
              <a:rPr lang="en-US" sz="1397" b="1" dirty="0">
                <a:solidFill>
                  <a:srgbClr val="00FFFF"/>
                </a:solidFill>
              </a:rPr>
              <a:t>YES</a:t>
            </a:r>
            <a:r>
              <a:rPr lang="en-US" sz="1486" dirty="0">
                <a:solidFill>
                  <a:srgbClr val="E0E0E0"/>
                </a:solidFill>
              </a:rPr>
              <a:t>,
 how often were we actually </a:t>
            </a:r>
            <a:r>
              <a:rPr lang="en-US" sz="1397" b="1" dirty="0">
                <a:solidFill>
                  <a:srgbClr val="00FFFF"/>
                </a:solidFill>
              </a:rPr>
              <a:t>RIGHT</a:t>
            </a:r>
            <a:r>
              <a:rPr lang="en-US" sz="1486" dirty="0">
                <a:solidFill>
                  <a:srgbClr val="E0E0E0"/>
                </a:solidFill>
              </a:rPr>
              <a:t>?"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285750" y="3173248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FFFF"/>
                </a:solidFill>
              </a:rPr>
              <a:t>Focus: </a:t>
            </a:r>
            <a:r>
              <a:rPr lang="en-US" sz="1595" dirty="0">
                <a:solidFill>
                  <a:srgbClr val="FF00FF"/>
                </a:solidFill>
              </a:rPr>
              <a:t>False Positives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285750" y="3544723"/>
            <a:ext cx="411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We want to minimize False Alarms. We only want to predict "Yes" when we are really sure.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3450" y="2260271"/>
            <a:ext cx="4114800" cy="259747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72050" y="2608892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kern="0" spc="1" dirty="0">
                <a:solidFill>
                  <a:srgbClr val="FF00FF"/>
                </a:solidFill>
              </a:rPr>
              <a:t>Example: Spam Filter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972050" y="2937504"/>
            <a:ext cx="36576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False Positive:</a:t>
            </a:r>
            <a:r>
              <a:rPr lang="en-US" sz="1159" dirty="0">
                <a:solidFill>
                  <a:srgbClr val="CCCCCC"/>
                </a:solidFill>
              </a:rPr>
              <a:t> A legitimate email from your boss is marked as Spam.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972050" y="3551867"/>
            <a:ext cx="36576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Cost:</a:t>
            </a:r>
            <a:r>
              <a:rPr lang="en-US" sz="1159" dirty="0">
                <a:solidFill>
                  <a:srgbClr val="CCCCCC"/>
                </a:solidFill>
              </a:rPr>
              <a:t> You miss a meeting. You get fired. </a:t>
            </a:r>
            <a:r>
              <a:rPr lang="en-US" sz="1159" dirty="0">
                <a:solidFill>
                  <a:srgbClr val="FF00FF"/>
                </a:solidFill>
              </a:rPr>
              <a:t>High Cost!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972050" y="4280529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→ We need High Precision.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Recall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The "Missing Child" Metric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8572500" cy="56005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E0E0E0"/>
                </a:solidFill>
              </a:rPr>
              <a:t>"Of all the </a:t>
            </a:r>
            <a:r>
              <a:rPr lang="en-US" sz="1397" b="1" dirty="0">
                <a:solidFill>
                  <a:srgbClr val="FF00FF"/>
                </a:solidFill>
              </a:rPr>
              <a:t>ACTUAL YES</a:t>
            </a:r>
            <a:r>
              <a:rPr lang="en-US" sz="1486" dirty="0">
                <a:solidFill>
                  <a:srgbClr val="E0E0E0"/>
                </a:solidFill>
              </a:rPr>
              <a:t> cases,
 how many did we manage to </a:t>
            </a:r>
            <a:r>
              <a:rPr lang="en-US" sz="1397" b="1" dirty="0">
                <a:solidFill>
                  <a:srgbClr val="FF00FF"/>
                </a:solidFill>
              </a:rPr>
              <a:t>FIND</a:t>
            </a:r>
            <a:r>
              <a:rPr lang="en-US" sz="1486" dirty="0">
                <a:solidFill>
                  <a:srgbClr val="E0E0E0"/>
                </a:solidFill>
              </a:rPr>
              <a:t>?"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285750" y="3173248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95" dirty="0">
                <a:solidFill>
                  <a:srgbClr val="FFFFFF"/>
                </a:solidFill>
              </a:rPr>
              <a:t>Focus: </a:t>
            </a:r>
            <a:r>
              <a:rPr lang="en-US" sz="1595" dirty="0">
                <a:solidFill>
                  <a:srgbClr val="00FFFF"/>
                </a:solidFill>
              </a:rPr>
              <a:t>False Negatives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285750" y="3544723"/>
            <a:ext cx="411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We want to minimize Misses. We would rather have false alarms than miss a real case.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3450" y="2260271"/>
            <a:ext cx="4114800" cy="2597479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72050" y="2726764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kern="0" spc="1" dirty="0">
                <a:solidFill>
                  <a:srgbClr val="00FFFF"/>
                </a:solidFill>
              </a:rPr>
              <a:t>Example: Cancer Screening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972050" y="3055376"/>
            <a:ext cx="36576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False Negative:</a:t>
            </a:r>
            <a:r>
              <a:rPr lang="en-US" sz="1159" dirty="0">
                <a:solidFill>
                  <a:srgbClr val="CCCCCC"/>
                </a:solidFill>
              </a:rPr>
              <a:t> A sick patient is told they are healthy.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972050" y="3669739"/>
            <a:ext cx="3657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Cost:</a:t>
            </a:r>
            <a:r>
              <a:rPr lang="en-US" sz="1159" dirty="0">
                <a:solidFill>
                  <a:srgbClr val="CCCCCC"/>
                </a:solidFill>
              </a:rPr>
              <a:t> The patient dies. </a:t>
            </a:r>
            <a:r>
              <a:rPr lang="en-US" sz="1159" dirty="0">
                <a:solidFill>
                  <a:srgbClr val="FF00FF"/>
                </a:solidFill>
              </a:rPr>
              <a:t>Catastrophic Cost!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972050" y="4162658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→ We need High Recall.</a:t>
            </a:r>
            <a:endParaRPr lang="en-US" sz="119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Tradeoff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You can't have it all.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4171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00FF"/>
                </a:solidFill>
              </a:rPr>
              <a:t>Picky Approach</a:t>
            </a:r>
            <a:endParaRPr lang="en-US" sz="1499" dirty="0"/>
          </a:p>
        </p:txBody>
      </p:sp>
      <p:sp>
        <p:nvSpPr>
          <p:cNvPr id="6" name="Text 3"/>
          <p:cNvSpPr/>
          <p:nvPr/>
        </p:nvSpPr>
        <p:spPr>
          <a:xfrm>
            <a:off x="285750" y="1728788"/>
            <a:ext cx="4171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"I only guess YES if I'm 100% sure."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1985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High Precision, </a:t>
            </a:r>
            <a:r>
              <a:rPr lang="en-US" sz="1269" dirty="0">
                <a:solidFill>
                  <a:srgbClr val="EF4444"/>
                </a:solidFill>
              </a:rPr>
              <a:t>Low Recall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686300" y="1414463"/>
            <a:ext cx="4171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0FFFF"/>
                </a:solidFill>
              </a:rPr>
              <a:t>Wide Net Approach</a:t>
            </a:r>
            <a:endParaRPr lang="en-US" sz="1499" dirty="0"/>
          </a:p>
        </p:txBody>
      </p:sp>
      <p:sp>
        <p:nvSpPr>
          <p:cNvPr id="9" name="Text 6"/>
          <p:cNvSpPr/>
          <p:nvPr/>
        </p:nvSpPr>
        <p:spPr>
          <a:xfrm>
            <a:off x="4686300" y="1728788"/>
            <a:ext cx="4171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"I guess YES just in case."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86300" y="1985963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High Recall, </a:t>
            </a:r>
            <a:r>
              <a:rPr lang="en-US" sz="1269" dirty="0">
                <a:solidFill>
                  <a:srgbClr val="EF4444"/>
                </a:solidFill>
              </a:rPr>
              <a:t>Low Precision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 rot="-180000">
            <a:off x="1714500" y="2728913"/>
            <a:ext cx="5715000" cy="5715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Shape 9"/>
          <p:cNvSpPr/>
          <p:nvPr/>
        </p:nvSpPr>
        <p:spPr>
          <a:xfrm rot="-360000">
            <a:off x="1696495" y="2451339"/>
            <a:ext cx="1428750" cy="714375"/>
          </a:xfrm>
          <a:prstGeom prst="rect">
            <a:avLst/>
          </a:prstGeom>
          <a:solidFill>
            <a:srgbClr val="000000"/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 rot="-360000">
            <a:off x="1945968" y="2679941"/>
            <a:ext cx="9297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Precision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6012251" y="2225160"/>
            <a:ext cx="1428750" cy="714375"/>
          </a:xfrm>
          <a:prstGeom prst="rect">
            <a:avLst/>
          </a:prstGeom>
          <a:solidFill>
            <a:srgbClr val="000000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1409" y="2453760"/>
            <a:ext cx="6304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FFFF"/>
                </a:solidFill>
              </a:rPr>
              <a:t>Recall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85750" y="2900363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i="1" dirty="0">
                <a:solidFill>
                  <a:srgbClr val="9CA3AF"/>
                </a:solidFill>
              </a:rPr>
              <a:t>"As you increase one, the other usually goes down."</a:t>
            </a:r>
            <a:endParaRPr lang="en-US" sz="12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F1 Score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The Balance Point.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300163"/>
            <a:ext cx="8572500" cy="5286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4" dirty="0">
                <a:solidFill>
                  <a:srgbClr val="E0E0E0"/>
                </a:solidFill>
              </a:rPr>
              <a:t>F1 = Harmonic Mean of </a:t>
            </a:r>
            <a:r>
              <a:rPr lang="en-US" sz="1704" dirty="0">
                <a:solidFill>
                  <a:srgbClr val="FF00FF"/>
                </a:solidFill>
              </a:rPr>
              <a:t>Precision</a:t>
            </a:r>
            <a:r>
              <a:rPr lang="en-US" sz="1704" dirty="0">
                <a:solidFill>
                  <a:srgbClr val="E0E0E0"/>
                </a:solidFill>
              </a:rPr>
              <a:t> and </a:t>
            </a:r>
            <a:r>
              <a:rPr lang="en-US" sz="1704" dirty="0">
                <a:solidFill>
                  <a:srgbClr val="22D3EE"/>
                </a:solidFill>
              </a:rPr>
              <a:t>Recall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285750" y="2000250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Why not just average them?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2343150"/>
            <a:ext cx="411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Imagine a model with </a:t>
            </a:r>
            <a:r>
              <a:rPr lang="en-US" sz="1050" dirty="0">
                <a:solidFill>
                  <a:srgbClr val="FFFFFF"/>
                </a:solidFill>
              </a:rPr>
              <a:t>100% Precision</a:t>
            </a:r>
            <a:r>
              <a:rPr lang="en-US" sz="1050" dirty="0">
                <a:solidFill>
                  <a:srgbClr val="9CA3AF"/>
                </a:solidFill>
              </a:rPr>
              <a:t> but </a:t>
            </a:r>
            <a:r>
              <a:rPr lang="en-US" sz="1050" dirty="0">
                <a:solidFill>
                  <a:srgbClr val="FFFFFF"/>
                </a:solidFill>
              </a:rPr>
              <a:t>0% Recall</a:t>
            </a:r>
            <a:r>
              <a:rPr lang="en-US" sz="1050" dirty="0">
                <a:solidFill>
                  <a:srgbClr val="9CA3AF"/>
                </a:solidFill>
              </a:rPr>
              <a:t> (it predicts nothing).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5750" y="2857500"/>
            <a:ext cx="4114800" cy="1014413"/>
          </a:xfrm>
          <a:prstGeom prst="rect">
            <a:avLst/>
          </a:prstGeom>
          <a:solidFill>
            <a:srgbClr val="111827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625" y="3000375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Regular Average (Arithmetic Mean)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257550"/>
            <a:ext cx="3829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(100 + 0) / 2 = </a:t>
            </a:r>
            <a:r>
              <a:rPr lang="en-US" sz="1193" b="1" dirty="0">
                <a:solidFill>
                  <a:srgbClr val="FF00FF"/>
                </a:solidFill>
              </a:rPr>
              <a:t>50%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3571875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F87171"/>
                </a:solidFill>
              </a:rPr>
              <a:t>Misleading! The model is useless.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285750" y="4000500"/>
            <a:ext cx="4114800" cy="1014413"/>
          </a:xfrm>
          <a:prstGeom prst="rect">
            <a:avLst/>
          </a:prstGeom>
          <a:solidFill>
            <a:srgbClr val="111827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4143375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F1 Score (Harmonic Mean)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4400550"/>
            <a:ext cx="38290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2 * (100 * 0) / (100 + 0) = </a:t>
            </a:r>
            <a:r>
              <a:rPr lang="en-US" sz="1193" b="1" dirty="0">
                <a:solidFill>
                  <a:srgbClr val="00FFFF"/>
                </a:solidFill>
              </a:rPr>
              <a:t>0%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28625" y="4714875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Honest! It tells us the model failed.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743450" y="2775347"/>
            <a:ext cx="41148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274" dirty="0">
                <a:solidFill>
                  <a:srgbClr val="FFFFFF"/>
                </a:solidFill>
              </a:rPr>
              <a:t>⚖️</a:t>
            </a:r>
            <a:endParaRPr lang="en-US" sz="3274" dirty="0"/>
          </a:p>
        </p:txBody>
      </p:sp>
      <p:sp>
        <p:nvSpPr>
          <p:cNvPr id="17" name="Text 14"/>
          <p:cNvSpPr/>
          <p:nvPr/>
        </p:nvSpPr>
        <p:spPr>
          <a:xfrm>
            <a:off x="4743450" y="3318272"/>
            <a:ext cx="41148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F1 Score forces the model to be good at </a:t>
            </a:r>
            <a:r>
              <a:rPr lang="en-US" sz="1193" b="1" dirty="0">
                <a:solidFill>
                  <a:srgbClr val="FFFFFF"/>
                </a:solidFill>
              </a:rPr>
              <a:t>BOTH</a:t>
            </a:r>
            <a:r>
              <a:rPr lang="en-US" sz="1269" dirty="0">
                <a:solidFill>
                  <a:srgbClr val="FFFFFF"/>
                </a:solidFill>
              </a:rPr>
              <a:t>.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4743450" y="3825478"/>
            <a:ext cx="411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Use F1 when you have uneven class distribution (imbalanced data).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Threshold Problem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Who decides what is "Yes"?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557338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D1D5DB"/>
                </a:solidFill>
              </a:rPr>
              <a:t>Models output probabilities (e.g., 0.75), not Yes/No.
</a:t>
            </a:r>
            <a:r>
              <a:rPr lang="en-US" sz="1193" b="1" dirty="0">
                <a:solidFill>
                  <a:srgbClr val="FFFFFF"/>
                </a:solidFill>
              </a:rPr>
              <a:t>WE decide the cutoff.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857250" y="2600325"/>
            <a:ext cx="7429500" cy="28575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7" name="Text 4"/>
          <p:cNvSpPr/>
          <p:nvPr/>
        </p:nvSpPr>
        <p:spPr>
          <a:xfrm>
            <a:off x="787082" y="2743200"/>
            <a:ext cx="1403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0%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473229" y="2743200"/>
            <a:ext cx="1975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50%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8159376" y="2743200"/>
            <a:ext cx="2547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100%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550807" y="2171700"/>
            <a:ext cx="10705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Threshold = 0.3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600200" y="2314575"/>
            <a:ext cx="2758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6B7280"/>
                </a:solidFill>
              </a:rPr>
              <a:t>NO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057900" y="2314575"/>
            <a:ext cx="2974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YES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285750" y="3214688"/>
            <a:ext cx="4114800" cy="1300163"/>
          </a:xfrm>
          <a:prstGeom prst="rect">
            <a:avLst/>
          </a:prstGeom>
          <a:solidFill>
            <a:srgbClr val="111827"/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3357563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Low Threshold (e.g., 0.1)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28625" y="3643313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1D5DB"/>
                </a:solidFill>
              </a:rPr>
              <a:t>"If there's even a 10% chance, flag it!"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3957638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⬆ High Recall (Catch everything)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28625" y="4157663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⬇ Low Precision (Lots of noise)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743450" y="3214688"/>
            <a:ext cx="4114800" cy="1300163"/>
          </a:xfrm>
          <a:prstGeom prst="rect">
            <a:avLst/>
          </a:prstGeom>
          <a:solidFill>
            <a:srgbClr val="111827"/>
          </a:solidFill>
          <a:ln w="9144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86325" y="3357563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High Threshold (e.g., 0.9)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886325" y="3643313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1D5DB"/>
                </a:solidFill>
              </a:rPr>
              <a:t>"Only flag it if you are absolutely certain."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886325" y="3957638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⬆ High Precision (Very trustworthy)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886325" y="4157663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⬇ Low Recall (Miss subtle cases)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ROC Curve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What if we tried EVERY threshold?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2010966"/>
            <a:ext cx="41148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Instead of picking one cutoff (like 0.5), the ROC curve shows the performance for </a:t>
            </a:r>
            <a:r>
              <a:rPr lang="en-US" sz="1193" b="1" dirty="0">
                <a:solidFill>
                  <a:srgbClr val="22D3EE"/>
                </a:solidFill>
              </a:rPr>
              <a:t>every possible cutoff</a:t>
            </a:r>
            <a:r>
              <a:rPr lang="en-US" sz="1269" dirty="0">
                <a:solidFill>
                  <a:srgbClr val="FFFFFF"/>
                </a:solidFill>
              </a:rPr>
              <a:t> from 0 to 1.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3077170"/>
            <a:ext cx="4716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2D3EE"/>
                </a:solidFill>
              </a:rPr>
              <a:t>Y-Axis: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57405" y="3077170"/>
            <a:ext cx="17473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True Positive Rate (Recall)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391495"/>
            <a:ext cx="4777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X-Axis: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63544" y="3391495"/>
            <a:ext cx="12725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False Positive Rate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" y="3818334"/>
            <a:ext cx="4114800" cy="442913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3939778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"We want the curve to hug the top-left corner as tight as possible."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 rot="-5400000">
            <a:off x="4600575" y="2391440"/>
            <a:ext cx="14750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FF"/>
                </a:solidFill>
              </a:rPr>
              <a:t>True Positive Rate (Recall)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276315" y="4664869"/>
            <a:ext cx="10633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FF"/>
                </a:solidFill>
              </a:rPr>
              <a:t>False Positive Rate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4972050" y="1650206"/>
            <a:ext cx="114300" cy="11430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4972050" y="1435894"/>
            <a:ext cx="6541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Perfect Model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Reading the ROC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Good vs Bad Models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3735442" y="2446205"/>
            <a:ext cx="2258904" cy="406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0000"/>
                </a:solidFill>
              </a:rPr>
              <a:t>Great Model</a:t>
            </a:r>
            <a:r>
              <a:rPr lang="en-US" sz="1050" dirty="0">
                <a:solidFill>
                  <a:srgbClr val="FFFFFF"/>
                </a:solidFill>
              </a:rPr>
              <a:t>
</a:t>
            </a:r>
            <a:r>
              <a:rPr lang="en-US" sz="727" dirty="0">
                <a:solidFill>
                  <a:srgbClr val="9CA3AF"/>
                </a:solidFill>
              </a:rPr>
              <a:t>Hugs the top-left. High Recall, Low False Alarms.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735442" y="1955336"/>
            <a:ext cx="1999357" cy="406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B0F0"/>
                </a:solidFill>
              </a:rPr>
              <a:t>Okay Model</a:t>
            </a:r>
            <a:r>
              <a:rPr lang="en-US" sz="1050" dirty="0">
                <a:solidFill>
                  <a:srgbClr val="FFFFFF"/>
                </a:solidFill>
              </a:rPr>
              <a:t>
</a:t>
            </a:r>
            <a:r>
              <a:rPr lang="en-US" sz="727" dirty="0">
                <a:solidFill>
                  <a:srgbClr val="9CA3AF"/>
                </a:solidFill>
              </a:rPr>
              <a:t>Better than guessing, but makes mistakes.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735442" y="2985027"/>
            <a:ext cx="1282471" cy="406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/>
              <a:t>Random Guessing</a:t>
            </a:r>
            <a:r>
              <a:rPr lang="en-US" sz="1050" dirty="0">
                <a:solidFill>
                  <a:srgbClr val="FFFFFF"/>
                </a:solidFill>
              </a:rPr>
              <a:t>
</a:t>
            </a:r>
            <a:r>
              <a:rPr lang="en-US" sz="727" dirty="0">
                <a:solidFill>
                  <a:srgbClr val="9CA3AF"/>
                </a:solidFill>
              </a:rPr>
              <a:t>A coin flip. Useless.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735442" y="1488944"/>
            <a:ext cx="38719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2D3EE"/>
                </a:solidFill>
              </a:rPr>
              <a:t>Rule of Thumb:</a:t>
            </a:r>
            <a:r>
              <a:rPr lang="en-US" sz="942" dirty="0">
                <a:solidFill>
                  <a:srgbClr val="FFFFFF"/>
                </a:solidFill>
              </a:rPr>
              <a:t>
 The more "area" under the curve, the better the model.</a:t>
            </a:r>
            <a:endParaRPr lang="en-US" sz="885" dirty="0"/>
          </a:p>
        </p:txBody>
      </p:sp>
      <p:pic>
        <p:nvPicPr>
          <p:cNvPr id="2050" name="Picture 2" descr="Comparing Two ROC Curves – Paired Design">
            <a:extLst>
              <a:ext uri="{FF2B5EF4-FFF2-40B4-BE49-F238E27FC236}">
                <a16:creationId xmlns:a16="http://schemas.microsoft.com/office/drawing/2014/main" id="{D1416FB1-A3BC-4305-9762-B4C6334E1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345755"/>
            <a:ext cx="3307604" cy="335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AUC Score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Area Under the Curve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D1D5DB"/>
                </a:solidFill>
              </a:rPr>
              <a:t>ROC is a curve. AUC is a </a:t>
            </a:r>
            <a:r>
              <a:rPr lang="en-US" sz="1193" b="1" dirty="0">
                <a:solidFill>
                  <a:srgbClr val="FFFFFF"/>
                </a:solidFill>
              </a:rPr>
              <a:t>single number</a:t>
            </a:r>
            <a:r>
              <a:rPr lang="en-US" sz="1269" dirty="0">
                <a:solidFill>
                  <a:srgbClr val="D1D5DB"/>
                </a:solidFill>
              </a:rPr>
              <a:t> (0 to 1) that summarizes it.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285750" y="2100263"/>
            <a:ext cx="4114800" cy="814388"/>
          </a:xfrm>
          <a:prstGeom prst="rect">
            <a:avLst/>
          </a:prstGeom>
          <a:solidFill>
            <a:srgbClr val="111827"/>
          </a:solidFill>
          <a:ln w="9144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2332434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22C55E"/>
                </a:solidFill>
              </a:rPr>
              <a:t>0.9+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1143000" y="2375297"/>
            <a:ext cx="28780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Excellent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021066" y="2246709"/>
            <a:ext cx="2366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2C55E"/>
                </a:solidFill>
              </a:rPr>
              <a:t>A</a:t>
            </a:r>
            <a:endParaRPr lang="en-US" sz="2436" dirty="0"/>
          </a:p>
        </p:txBody>
      </p:sp>
      <p:sp>
        <p:nvSpPr>
          <p:cNvPr id="10" name="Shape 7"/>
          <p:cNvSpPr/>
          <p:nvPr/>
        </p:nvSpPr>
        <p:spPr>
          <a:xfrm>
            <a:off x="285750" y="3011091"/>
            <a:ext cx="4114800" cy="814388"/>
          </a:xfrm>
          <a:prstGeom prst="rect">
            <a:avLst/>
          </a:prstGeom>
          <a:solidFill>
            <a:srgbClr val="111827"/>
          </a:solidFill>
          <a:ln w="9144">
            <a:solidFill>
              <a:srgbClr val="EAB30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8625" y="3246834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AB308"/>
                </a:solidFill>
              </a:rPr>
              <a:t>0.7+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1143000" y="3289697"/>
            <a:ext cx="289623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Acceptable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039233" y="3161109"/>
            <a:ext cx="21844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EAB308"/>
                </a:solidFill>
              </a:rPr>
              <a:t>C</a:t>
            </a:r>
            <a:endParaRPr lang="en-US" sz="2436" dirty="0"/>
          </a:p>
        </p:txBody>
      </p:sp>
      <p:sp>
        <p:nvSpPr>
          <p:cNvPr id="14" name="Shape 11"/>
          <p:cNvSpPr/>
          <p:nvPr/>
        </p:nvSpPr>
        <p:spPr>
          <a:xfrm>
            <a:off x="285750" y="3925491"/>
            <a:ext cx="4114800" cy="814388"/>
          </a:xfrm>
          <a:prstGeom prst="rect">
            <a:avLst/>
          </a:prstGeom>
          <a:solidFill>
            <a:srgbClr val="111827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8625" y="4161234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F4444"/>
                </a:solidFill>
              </a:rPr>
              <a:t>0.5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1143000" y="4204097"/>
            <a:ext cx="292639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Random Guess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069398" y="4075509"/>
            <a:ext cx="18827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EF4444"/>
                </a:solidFill>
              </a:rPr>
              <a:t>F</a:t>
            </a:r>
            <a:endParaRPr lang="en-US" sz="2436" dirty="0"/>
          </a:p>
        </p:txBody>
      </p:sp>
      <p:sp>
        <p:nvSpPr>
          <p:cNvPr id="18" name="Shape 15"/>
          <p:cNvSpPr/>
          <p:nvPr/>
        </p:nvSpPr>
        <p:spPr>
          <a:xfrm>
            <a:off x="5372100" y="1778794"/>
            <a:ext cx="2857500" cy="2143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372100" y="3907631"/>
            <a:ext cx="28575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372100" y="1778794"/>
            <a:ext cx="14288" cy="2143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57769" y="2593181"/>
            <a:ext cx="6861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00FFFF"/>
                </a:solidFill>
              </a:rPr>
              <a:t>0.85</a:t>
            </a:r>
            <a:endParaRPr lang="en-US" sz="2436" dirty="0"/>
          </a:p>
        </p:txBody>
      </p:sp>
      <p:sp>
        <p:nvSpPr>
          <p:cNvPr id="22" name="Text 19"/>
          <p:cNvSpPr/>
          <p:nvPr/>
        </p:nvSpPr>
        <p:spPr>
          <a:xfrm>
            <a:off x="4743450" y="4093369"/>
            <a:ext cx="4114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9CA3AF"/>
                </a:solidFill>
              </a:rPr>
              <a:t>"The probability that a random Positive is ranked higher than a random Negative."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When to use ROC?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It's not always the best tool.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4114800" cy="29860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414463"/>
            <a:ext cx="4114800" cy="28575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1643063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22D3EE"/>
                </a:solidFill>
              </a:rPr>
              <a:t>✅ Use ROC When...</a:t>
            </a:r>
            <a:endParaRPr lang="en-US" sz="1499" dirty="0"/>
          </a:p>
        </p:txBody>
      </p:sp>
      <p:sp>
        <p:nvSpPr>
          <p:cNvPr id="8" name="Text 5"/>
          <p:cNvSpPr/>
          <p:nvPr/>
        </p:nvSpPr>
        <p:spPr>
          <a:xfrm>
            <a:off x="514350" y="2071688"/>
            <a:ext cx="123983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✓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45489" y="2071688"/>
            <a:ext cx="2384366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Classes are roughly balanced.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14350" y="2641736"/>
            <a:ext cx="123983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✓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45489" y="2487448"/>
            <a:ext cx="3426461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You care about both True Positives and False Positives equally.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14350" y="3211813"/>
            <a:ext cx="123983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✓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45489" y="3211813"/>
            <a:ext cx="2232282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General model comparison.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4743450" y="1414463"/>
            <a:ext cx="4114800" cy="29860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Shape 12"/>
          <p:cNvSpPr/>
          <p:nvPr/>
        </p:nvSpPr>
        <p:spPr>
          <a:xfrm>
            <a:off x="4743450" y="1414463"/>
            <a:ext cx="4114800" cy="28575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6" name="Text 13"/>
          <p:cNvSpPr/>
          <p:nvPr/>
        </p:nvSpPr>
        <p:spPr>
          <a:xfrm>
            <a:off x="4972050" y="1643063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00FF"/>
                </a:solidFill>
              </a:rPr>
              <a:t>❌ Avoid ROC When...</a:t>
            </a:r>
            <a:endParaRPr lang="en-US" sz="1499" dirty="0"/>
          </a:p>
        </p:txBody>
      </p:sp>
      <p:sp>
        <p:nvSpPr>
          <p:cNvPr id="17" name="Text 14"/>
          <p:cNvSpPr/>
          <p:nvPr/>
        </p:nvSpPr>
        <p:spPr>
          <a:xfrm>
            <a:off x="4972050" y="2071688"/>
            <a:ext cx="1714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⚠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250656" y="2071688"/>
            <a:ext cx="1693934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Heavily Imbalanced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7001740" y="2071688"/>
            <a:ext cx="425388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Data.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4972050" y="2641736"/>
            <a:ext cx="1714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⚠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250656" y="2487448"/>
            <a:ext cx="3378994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Negatives massively outnumber Positives (e.g., 1 fraud in 10,000).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4972050" y="3218957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9CA3AF"/>
                </a:solidFill>
              </a:rPr>
              <a:t>"ROC can look 'good' (0.95) even when the model is failing to catch the minority class."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85750" y="4629150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For Imbalanced Data → Use Precision-Recall Curve instead.</a:t>
            </a:r>
            <a:endParaRPr lang="en-US" sz="119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Precision-Recall Curve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The Truth Teller for Imbalanced Data.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2050256"/>
            <a:ext cx="41148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Unlike ROC, this curve ignores True Negatives. It focuses purely on the </a:t>
            </a:r>
            <a:r>
              <a:rPr lang="en-US" sz="1193" b="1" dirty="0">
                <a:solidFill>
                  <a:srgbClr val="22D3EE"/>
                </a:solidFill>
              </a:rPr>
              <a:t>Minority Class</a:t>
            </a:r>
            <a:r>
              <a:rPr lang="en-US" sz="1269" dirty="0">
                <a:solidFill>
                  <a:srgbClr val="FFFFFF"/>
                </a:solidFill>
              </a:rPr>
              <a:t>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2837855"/>
            <a:ext cx="4716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Y-Axis: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57405" y="2837855"/>
            <a:ext cx="6458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Precision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152180"/>
            <a:ext cx="4777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2D3EE"/>
                </a:solidFill>
              </a:rPr>
              <a:t>X-Axis: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63544" y="3152180"/>
            <a:ext cx="4290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Recall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" y="3579019"/>
            <a:ext cx="4114800" cy="642938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3700463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"We want the curve to stay high (Precision) as we move right (Recall)."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 rot="-5400000">
            <a:off x="4600575" y="2868927"/>
            <a:ext cx="5200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FF"/>
                </a:solidFill>
              </a:rPr>
              <a:t>Precision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637744" y="4664869"/>
            <a:ext cx="340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FF"/>
                </a:solidFill>
              </a:rPr>
              <a:t>Recall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247990" y="4095099"/>
            <a:ext cx="3387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Baseline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7932688" y="1493044"/>
            <a:ext cx="6541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22C55E"/>
                </a:solidFill>
              </a:rPr>
              <a:t>Perfect Model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Measuring Regression Success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42975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How wrong is our number?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835944"/>
            <a:ext cx="4171950" cy="10858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835944"/>
            <a:ext cx="28575" cy="108585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978819"/>
            <a:ext cx="38862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MAE (Mean Absolute Error)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28625" y="2350294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"On average, our prediction is off by </a:t>
            </a:r>
            <a:r>
              <a:rPr lang="en-US" sz="987" b="1" dirty="0">
                <a:solidFill>
                  <a:srgbClr val="FF00FF"/>
                </a:solidFill>
              </a:rPr>
              <a:t>$5,000</a:t>
            </a:r>
            <a:r>
              <a:rPr lang="en-US" sz="1050" dirty="0">
                <a:solidFill>
                  <a:srgbClr val="E0E0E0"/>
                </a:solidFill>
              </a:rPr>
              <a:t>."
 Simple, intuitive, easy to explain to stakeholders.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750" y="3064669"/>
            <a:ext cx="4171950" cy="130016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" y="3064669"/>
            <a:ext cx="28575" cy="13001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3207544"/>
            <a:ext cx="38862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FFFF"/>
                </a:solidFill>
              </a:rPr>
              <a:t>RMSE (Root Mean Squared Error)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428625" y="3579019"/>
            <a:ext cx="3886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"Large errors are </a:t>
            </a:r>
            <a:r>
              <a:rPr lang="en-US" sz="987" b="1" dirty="0">
                <a:solidFill>
                  <a:srgbClr val="FF00FF"/>
                </a:solidFill>
              </a:rPr>
              <a:t>punished heavily</a:t>
            </a:r>
            <a:r>
              <a:rPr lang="en-US" sz="1050" dirty="0">
                <a:solidFill>
                  <a:srgbClr val="E0E0E0"/>
                </a:solidFill>
              </a:rPr>
              <a:t>."
 Use this if being very wrong is much worse than being slightly wrong.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98336" y="2214563"/>
            <a:ext cx="8456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Large errors (Red)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7898336" y="2357438"/>
            <a:ext cx="8456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drive RMSE up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745780" y="4043363"/>
            <a:ext cx="20529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9CA3AF"/>
                </a:solidFill>
              </a:rPr>
              <a:t>"Are all mistakes created equal?"</a:t>
            </a:r>
            <a:endParaRPr lang="en-US" sz="1050" dirty="0"/>
          </a:p>
        </p:txBody>
      </p:sp>
      <p:pic>
        <p:nvPicPr>
          <p:cNvPr id="3074" name="Picture 2" descr="Essential Regression Evaluation Metrics: MSE, RMSE, MAE, R², and Adjusted  R² | by FARSHAD K | Medium">
            <a:extLst>
              <a:ext uri="{FF2B5EF4-FFF2-40B4-BE49-F238E27FC236}">
                <a16:creationId xmlns:a16="http://schemas.microsoft.com/office/drawing/2014/main" id="{41C77E91-44CC-4D38-A1FA-BE14F3614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8" y="1077837"/>
            <a:ext cx="4629151" cy="34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R-Squared (R²)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42975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How much of the story does our model tell?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864547"/>
            <a:ext cx="41148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Imagine variance is the "mystery" in your data.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2353168"/>
            <a:ext cx="41148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R² = 0.80</a:t>
            </a:r>
            <a:r>
              <a:rPr lang="en-US" sz="1269" dirty="0">
                <a:solidFill>
                  <a:srgbClr val="E0E0E0"/>
                </a:solidFill>
              </a:rPr>
              <a:t> means our model explains </a:t>
            </a:r>
            <a:r>
              <a:rPr lang="en-US" sz="1193" b="1" dirty="0">
                <a:solidFill>
                  <a:srgbClr val="FF00FF"/>
                </a:solidFill>
              </a:rPr>
              <a:t>80%</a:t>
            </a:r>
            <a:r>
              <a:rPr lang="en-US" sz="1269" dirty="0">
                <a:solidFill>
                  <a:srgbClr val="E0E0E0"/>
                </a:solidFill>
              </a:rPr>
              <a:t> of that mystery.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3116098"/>
            <a:ext cx="41148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The remaining 20% is still unexplained noise or missing factors.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14350" y="3879028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R² = 1.0: Perfect prediction (Suspicious!)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4350" y="4193353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R² = 0.0: Useless model (Just guessing the average)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29188" y="1528763"/>
            <a:ext cx="37433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Good Model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929188" y="1943100"/>
            <a:ext cx="37433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294" b="1" dirty="0">
                <a:solidFill>
                  <a:srgbClr val="FF00FF"/>
                </a:solidFill>
              </a:rPr>
              <a:t>R² = 0.85</a:t>
            </a:r>
            <a:endParaRPr lang="en-US" sz="3294" dirty="0"/>
          </a:p>
        </p:txBody>
      </p:sp>
      <p:sp>
        <p:nvSpPr>
          <p:cNvPr id="12" name="Text 9"/>
          <p:cNvSpPr/>
          <p:nvPr/>
        </p:nvSpPr>
        <p:spPr>
          <a:xfrm>
            <a:off x="4929188" y="268605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Explains most variation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929188" y="3400425"/>
            <a:ext cx="37433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888888"/>
                </a:solidFill>
              </a:rPr>
              <a:t>Bad Model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929188" y="3814763"/>
            <a:ext cx="37433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294" b="1" dirty="0">
                <a:solidFill>
                  <a:srgbClr val="888888"/>
                </a:solidFill>
              </a:rPr>
              <a:t>R² = 0.12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4929188" y="4557713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Explains almost nothing</a:t>
            </a:r>
            <a:endParaRPr lang="en-US" sz="8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Split Problem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942975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Are we just lucky?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923120"/>
            <a:ext cx="41148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Relying on a single Train/Test split is risky.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2411741"/>
            <a:ext cx="41148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What if your test set accidentally contains only the </a:t>
            </a:r>
            <a:r>
              <a:rPr lang="en-US" sz="1193" b="1" dirty="0">
                <a:solidFill>
                  <a:srgbClr val="FF00FF"/>
                </a:solidFill>
              </a:rPr>
              <a:t>easiest</a:t>
            </a:r>
            <a:r>
              <a:rPr lang="en-US" sz="1269" dirty="0">
                <a:solidFill>
                  <a:srgbClr val="E0E0E0"/>
                </a:solidFill>
              </a:rPr>
              <a:t> examples?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285750" y="3174671"/>
            <a:ext cx="41148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Or the </a:t>
            </a:r>
            <a:r>
              <a:rPr lang="en-US" sz="1193" b="1" dirty="0">
                <a:solidFill>
                  <a:srgbClr val="FF00FF"/>
                </a:solidFill>
              </a:rPr>
              <a:t>hardest</a:t>
            </a:r>
            <a:r>
              <a:rPr lang="en-US" sz="1269" dirty="0">
                <a:solidFill>
                  <a:srgbClr val="E0E0E0"/>
                </a:solidFill>
              </a:rPr>
              <a:t> ones?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285750" y="3677580"/>
            <a:ext cx="4114800" cy="742950"/>
          </a:xfrm>
          <a:prstGeom prst="rect">
            <a:avLst/>
          </a:prstGeom>
          <a:solidFill>
            <a:srgbClr val="111827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3677580"/>
            <a:ext cx="28575" cy="7429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49030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D1D5DB"/>
                </a:solidFill>
              </a:rPr>
              <a:t>"It's like grading a student based on a single pop quiz. They might have just studied that one chapter."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43450" y="2185988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2D3EE"/>
                </a:solidFill>
              </a:rPr>
              <a:t>Scenario A: "Lucky" Split (95% Accuracy)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43450" y="2443163"/>
            <a:ext cx="4114800" cy="28575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Shape 10"/>
          <p:cNvSpPr/>
          <p:nvPr/>
        </p:nvSpPr>
        <p:spPr>
          <a:xfrm>
            <a:off x="4743450" y="2443163"/>
            <a:ext cx="3086100" cy="28575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4" name="Shape 11"/>
          <p:cNvSpPr/>
          <p:nvPr/>
        </p:nvSpPr>
        <p:spPr>
          <a:xfrm>
            <a:off x="7815263" y="2443163"/>
            <a:ext cx="14288" cy="285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743450" y="2443163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Train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7829550" y="2443163"/>
            <a:ext cx="1028700" cy="28575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Shape 14"/>
          <p:cNvSpPr/>
          <p:nvPr/>
        </p:nvSpPr>
        <p:spPr>
          <a:xfrm>
            <a:off x="8843963" y="2443163"/>
            <a:ext cx="14288" cy="285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829550" y="2443163"/>
            <a:ext cx="102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Easy Test Data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43450" y="3028950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00FF"/>
                </a:solidFill>
              </a:rPr>
              <a:t>Scenario B: "Unlucky" Split (65% Accuracy)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43450" y="3286125"/>
            <a:ext cx="4114800" cy="28575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8"/>
          <p:cNvSpPr/>
          <p:nvPr/>
        </p:nvSpPr>
        <p:spPr>
          <a:xfrm>
            <a:off x="4743450" y="3286125"/>
            <a:ext cx="3086100" cy="28575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2" name="Shape 19"/>
          <p:cNvSpPr/>
          <p:nvPr/>
        </p:nvSpPr>
        <p:spPr>
          <a:xfrm>
            <a:off x="7815263" y="3286125"/>
            <a:ext cx="14288" cy="285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4743450" y="3286125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Train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7829550" y="3286125"/>
            <a:ext cx="1028700" cy="2857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2"/>
          <p:cNvSpPr/>
          <p:nvPr/>
        </p:nvSpPr>
        <p:spPr>
          <a:xfrm>
            <a:off x="8843963" y="3286125"/>
            <a:ext cx="14288" cy="285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829550" y="3286125"/>
            <a:ext cx="102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Hard Test Data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743450" y="3986213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Which accuracy is "real"? We don't know.</a:t>
            </a:r>
            <a:endParaRPr lang="en-US" sz="83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Cross-Validation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Testing on everything, just not at once.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735931"/>
            <a:ext cx="41148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Instead of one lucky split, we split the data into </a:t>
            </a:r>
            <a:r>
              <a:rPr lang="en-US" sz="1193" b="1" dirty="0">
                <a:solidFill>
                  <a:srgbClr val="22D3EE"/>
                </a:solidFill>
              </a:rPr>
              <a:t>K parts</a:t>
            </a:r>
            <a:r>
              <a:rPr lang="en-US" sz="1269" dirty="0">
                <a:solidFill>
                  <a:srgbClr val="FFFFFF"/>
                </a:solidFill>
              </a:rPr>
              <a:t> (Folds).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2521744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1. Train on K-1 folds.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2836069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2. Test on the remaining fold.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150394"/>
            <a:ext cx="4114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3. Repeat K times.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5750" y="3466505"/>
            <a:ext cx="1571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4.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42913" y="3466505"/>
            <a:ext cx="13931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Average the scores.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285750" y="3893344"/>
            <a:ext cx="4114800" cy="642938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" y="4014788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"It's like taking 5 different exams to prove you really know the subject."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43450" y="1564481"/>
            <a:ext cx="526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Round 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77166" y="1643063"/>
            <a:ext cx="629766" cy="2714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9789" y="1643063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5277166" y="1643063"/>
            <a:ext cx="62976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Test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5901240" y="1643063"/>
            <a:ext cx="63121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6525313" y="1643063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5901240" y="1643063"/>
            <a:ext cx="63121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6528160" y="1643063"/>
            <a:ext cx="632640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8"/>
          <p:cNvSpPr/>
          <p:nvPr/>
        </p:nvSpPr>
        <p:spPr>
          <a:xfrm>
            <a:off x="7153656" y="1643063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6528160" y="1643063"/>
            <a:ext cx="63264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7157926" y="1643063"/>
            <a:ext cx="634064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/>
          <p:cNvSpPr/>
          <p:nvPr/>
        </p:nvSpPr>
        <p:spPr>
          <a:xfrm>
            <a:off x="7784846" y="1643063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7157926" y="1643063"/>
            <a:ext cx="6340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7790538" y="1643063"/>
            <a:ext cx="63548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4"/>
          <p:cNvSpPr/>
          <p:nvPr/>
        </p:nvSpPr>
        <p:spPr>
          <a:xfrm>
            <a:off x="8418881" y="1643063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7790538" y="1643063"/>
            <a:ext cx="63548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8576072" y="1671638"/>
            <a:ext cx="282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FFFF"/>
                </a:solidFill>
              </a:rPr>
              <a:t>92%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743450" y="2100263"/>
            <a:ext cx="526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Round 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277166" y="2178844"/>
            <a:ext cx="629766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29"/>
          <p:cNvSpPr/>
          <p:nvPr/>
        </p:nvSpPr>
        <p:spPr>
          <a:xfrm>
            <a:off x="5899789" y="2178844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5277166" y="2178844"/>
            <a:ext cx="62976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5901240" y="2178844"/>
            <a:ext cx="631217" cy="2714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35" name="Shape 32"/>
          <p:cNvSpPr/>
          <p:nvPr/>
        </p:nvSpPr>
        <p:spPr>
          <a:xfrm>
            <a:off x="6525313" y="2178844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5901240" y="2178844"/>
            <a:ext cx="63121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Test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6528160" y="2178844"/>
            <a:ext cx="632640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5"/>
          <p:cNvSpPr/>
          <p:nvPr/>
        </p:nvSpPr>
        <p:spPr>
          <a:xfrm>
            <a:off x="7153656" y="2178844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6528160" y="2178844"/>
            <a:ext cx="63264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40" name="Shape 37"/>
          <p:cNvSpPr/>
          <p:nvPr/>
        </p:nvSpPr>
        <p:spPr>
          <a:xfrm>
            <a:off x="7157926" y="2178844"/>
            <a:ext cx="634064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Shape 38"/>
          <p:cNvSpPr/>
          <p:nvPr/>
        </p:nvSpPr>
        <p:spPr>
          <a:xfrm>
            <a:off x="7784846" y="2178844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39"/>
          <p:cNvSpPr/>
          <p:nvPr/>
        </p:nvSpPr>
        <p:spPr>
          <a:xfrm>
            <a:off x="7157926" y="2178844"/>
            <a:ext cx="6340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43" name="Shape 40"/>
          <p:cNvSpPr/>
          <p:nvPr/>
        </p:nvSpPr>
        <p:spPr>
          <a:xfrm>
            <a:off x="7790538" y="2178844"/>
            <a:ext cx="63548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8881" y="2178844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Text 42"/>
          <p:cNvSpPr/>
          <p:nvPr/>
        </p:nvSpPr>
        <p:spPr>
          <a:xfrm>
            <a:off x="7790538" y="2178844"/>
            <a:ext cx="63548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8576072" y="2207419"/>
            <a:ext cx="282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FFFF"/>
                </a:solidFill>
              </a:rPr>
              <a:t>88%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743450" y="2636044"/>
            <a:ext cx="526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Round 3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277166" y="2714625"/>
            <a:ext cx="629766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6"/>
          <p:cNvSpPr/>
          <p:nvPr/>
        </p:nvSpPr>
        <p:spPr>
          <a:xfrm>
            <a:off x="5899789" y="2714625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7"/>
          <p:cNvSpPr/>
          <p:nvPr/>
        </p:nvSpPr>
        <p:spPr>
          <a:xfrm>
            <a:off x="5277166" y="2714625"/>
            <a:ext cx="62976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51" name="Shape 48"/>
          <p:cNvSpPr/>
          <p:nvPr/>
        </p:nvSpPr>
        <p:spPr>
          <a:xfrm>
            <a:off x="5901240" y="2714625"/>
            <a:ext cx="63121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49"/>
          <p:cNvSpPr/>
          <p:nvPr/>
        </p:nvSpPr>
        <p:spPr>
          <a:xfrm>
            <a:off x="6525313" y="2714625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50"/>
          <p:cNvSpPr/>
          <p:nvPr/>
        </p:nvSpPr>
        <p:spPr>
          <a:xfrm>
            <a:off x="5901240" y="2714625"/>
            <a:ext cx="63121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54" name="Shape 51"/>
          <p:cNvSpPr/>
          <p:nvPr/>
        </p:nvSpPr>
        <p:spPr>
          <a:xfrm>
            <a:off x="6528160" y="2714625"/>
            <a:ext cx="632640" cy="2714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55" name="Shape 52"/>
          <p:cNvSpPr/>
          <p:nvPr/>
        </p:nvSpPr>
        <p:spPr>
          <a:xfrm>
            <a:off x="7153656" y="2714625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6" name="Text 53"/>
          <p:cNvSpPr/>
          <p:nvPr/>
        </p:nvSpPr>
        <p:spPr>
          <a:xfrm>
            <a:off x="6528160" y="2714625"/>
            <a:ext cx="63264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Test</a:t>
            </a:r>
            <a:endParaRPr lang="en-US" sz="683" dirty="0"/>
          </a:p>
        </p:txBody>
      </p:sp>
      <p:sp>
        <p:nvSpPr>
          <p:cNvPr id="57" name="Shape 54"/>
          <p:cNvSpPr/>
          <p:nvPr/>
        </p:nvSpPr>
        <p:spPr>
          <a:xfrm>
            <a:off x="7157926" y="2714625"/>
            <a:ext cx="634064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8" name="Shape 55"/>
          <p:cNvSpPr/>
          <p:nvPr/>
        </p:nvSpPr>
        <p:spPr>
          <a:xfrm>
            <a:off x="7784846" y="2714625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56"/>
          <p:cNvSpPr/>
          <p:nvPr/>
        </p:nvSpPr>
        <p:spPr>
          <a:xfrm>
            <a:off x="7157926" y="2714625"/>
            <a:ext cx="6340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60" name="Shape 57"/>
          <p:cNvSpPr/>
          <p:nvPr/>
        </p:nvSpPr>
        <p:spPr>
          <a:xfrm>
            <a:off x="7790538" y="2714625"/>
            <a:ext cx="63548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Shape 58"/>
          <p:cNvSpPr/>
          <p:nvPr/>
        </p:nvSpPr>
        <p:spPr>
          <a:xfrm>
            <a:off x="8418881" y="2714625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2" name="Text 59"/>
          <p:cNvSpPr/>
          <p:nvPr/>
        </p:nvSpPr>
        <p:spPr>
          <a:xfrm>
            <a:off x="7790538" y="2714625"/>
            <a:ext cx="63548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8576072" y="2743200"/>
            <a:ext cx="282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FFFF"/>
                </a:solidFill>
              </a:rPr>
              <a:t>95%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4743450" y="3171825"/>
            <a:ext cx="526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Round 4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5277166" y="3250406"/>
            <a:ext cx="629766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6" name="Shape 63"/>
          <p:cNvSpPr/>
          <p:nvPr/>
        </p:nvSpPr>
        <p:spPr>
          <a:xfrm>
            <a:off x="5899789" y="3250406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Text 64"/>
          <p:cNvSpPr/>
          <p:nvPr/>
        </p:nvSpPr>
        <p:spPr>
          <a:xfrm>
            <a:off x="5277166" y="3250406"/>
            <a:ext cx="62976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68" name="Shape 65"/>
          <p:cNvSpPr/>
          <p:nvPr/>
        </p:nvSpPr>
        <p:spPr>
          <a:xfrm>
            <a:off x="5901240" y="3250406"/>
            <a:ext cx="63121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9" name="Shape 66"/>
          <p:cNvSpPr/>
          <p:nvPr/>
        </p:nvSpPr>
        <p:spPr>
          <a:xfrm>
            <a:off x="6525313" y="3250406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0" name="Text 67"/>
          <p:cNvSpPr/>
          <p:nvPr/>
        </p:nvSpPr>
        <p:spPr>
          <a:xfrm>
            <a:off x="5901240" y="3250406"/>
            <a:ext cx="63121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71" name="Shape 68"/>
          <p:cNvSpPr/>
          <p:nvPr/>
        </p:nvSpPr>
        <p:spPr>
          <a:xfrm>
            <a:off x="6528160" y="3250406"/>
            <a:ext cx="632640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2" name="Shape 69"/>
          <p:cNvSpPr/>
          <p:nvPr/>
        </p:nvSpPr>
        <p:spPr>
          <a:xfrm>
            <a:off x="7153656" y="3250406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3" name="Text 70"/>
          <p:cNvSpPr/>
          <p:nvPr/>
        </p:nvSpPr>
        <p:spPr>
          <a:xfrm>
            <a:off x="6528160" y="3250406"/>
            <a:ext cx="63264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74" name="Shape 71"/>
          <p:cNvSpPr/>
          <p:nvPr/>
        </p:nvSpPr>
        <p:spPr>
          <a:xfrm>
            <a:off x="7157926" y="3250406"/>
            <a:ext cx="634064" cy="2714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75" name="Shape 72"/>
          <p:cNvSpPr/>
          <p:nvPr/>
        </p:nvSpPr>
        <p:spPr>
          <a:xfrm>
            <a:off x="7784846" y="3250406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Text 73"/>
          <p:cNvSpPr/>
          <p:nvPr/>
        </p:nvSpPr>
        <p:spPr>
          <a:xfrm>
            <a:off x="7157926" y="3250406"/>
            <a:ext cx="6340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Test</a:t>
            </a:r>
            <a:endParaRPr lang="en-US" sz="683" dirty="0"/>
          </a:p>
        </p:txBody>
      </p:sp>
      <p:sp>
        <p:nvSpPr>
          <p:cNvPr id="77" name="Shape 74"/>
          <p:cNvSpPr/>
          <p:nvPr/>
        </p:nvSpPr>
        <p:spPr>
          <a:xfrm>
            <a:off x="7790538" y="3250406"/>
            <a:ext cx="63548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8" name="Shape 75"/>
          <p:cNvSpPr/>
          <p:nvPr/>
        </p:nvSpPr>
        <p:spPr>
          <a:xfrm>
            <a:off x="8418881" y="3250406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9" name="Text 76"/>
          <p:cNvSpPr/>
          <p:nvPr/>
        </p:nvSpPr>
        <p:spPr>
          <a:xfrm>
            <a:off x="7790538" y="3250406"/>
            <a:ext cx="63548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80" name="Text 77"/>
          <p:cNvSpPr/>
          <p:nvPr/>
        </p:nvSpPr>
        <p:spPr>
          <a:xfrm>
            <a:off x="8576072" y="3278981"/>
            <a:ext cx="282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FFFF"/>
                </a:solidFill>
              </a:rPr>
              <a:t>91%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4743450" y="3707606"/>
            <a:ext cx="5265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Round 5</a:t>
            </a:r>
            <a:endParaRPr lang="en-US" sz="1050" dirty="0"/>
          </a:p>
        </p:txBody>
      </p:sp>
      <p:sp>
        <p:nvSpPr>
          <p:cNvPr id="82" name="Shape 79"/>
          <p:cNvSpPr/>
          <p:nvPr/>
        </p:nvSpPr>
        <p:spPr>
          <a:xfrm>
            <a:off x="5277166" y="3786188"/>
            <a:ext cx="629766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3" name="Shape 80"/>
          <p:cNvSpPr/>
          <p:nvPr/>
        </p:nvSpPr>
        <p:spPr>
          <a:xfrm>
            <a:off x="5899789" y="3786188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4" name="Text 81"/>
          <p:cNvSpPr/>
          <p:nvPr/>
        </p:nvSpPr>
        <p:spPr>
          <a:xfrm>
            <a:off x="5277166" y="3786188"/>
            <a:ext cx="62976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85" name="Shape 82"/>
          <p:cNvSpPr/>
          <p:nvPr/>
        </p:nvSpPr>
        <p:spPr>
          <a:xfrm>
            <a:off x="5901240" y="3786188"/>
            <a:ext cx="631217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6" name="Shape 83"/>
          <p:cNvSpPr/>
          <p:nvPr/>
        </p:nvSpPr>
        <p:spPr>
          <a:xfrm>
            <a:off x="6525313" y="3786188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7" name="Text 84"/>
          <p:cNvSpPr/>
          <p:nvPr/>
        </p:nvSpPr>
        <p:spPr>
          <a:xfrm>
            <a:off x="5901240" y="3786188"/>
            <a:ext cx="63121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88" name="Shape 85"/>
          <p:cNvSpPr/>
          <p:nvPr/>
        </p:nvSpPr>
        <p:spPr>
          <a:xfrm>
            <a:off x="6528160" y="3786188"/>
            <a:ext cx="632640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9" name="Shape 86"/>
          <p:cNvSpPr/>
          <p:nvPr/>
        </p:nvSpPr>
        <p:spPr>
          <a:xfrm>
            <a:off x="7153656" y="3786188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0" name="Text 87"/>
          <p:cNvSpPr/>
          <p:nvPr/>
        </p:nvSpPr>
        <p:spPr>
          <a:xfrm>
            <a:off x="6528160" y="3786188"/>
            <a:ext cx="63264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91" name="Shape 88"/>
          <p:cNvSpPr/>
          <p:nvPr/>
        </p:nvSpPr>
        <p:spPr>
          <a:xfrm>
            <a:off x="7157926" y="3786188"/>
            <a:ext cx="634064" cy="27146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2" name="Shape 89"/>
          <p:cNvSpPr/>
          <p:nvPr/>
        </p:nvSpPr>
        <p:spPr>
          <a:xfrm>
            <a:off x="7784846" y="3786188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3" name="Text 90"/>
          <p:cNvSpPr/>
          <p:nvPr/>
        </p:nvSpPr>
        <p:spPr>
          <a:xfrm>
            <a:off x="7157926" y="3786188"/>
            <a:ext cx="6340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Train</a:t>
            </a:r>
            <a:endParaRPr lang="en-US" sz="683" dirty="0"/>
          </a:p>
        </p:txBody>
      </p:sp>
      <p:sp>
        <p:nvSpPr>
          <p:cNvPr id="94" name="Shape 91"/>
          <p:cNvSpPr/>
          <p:nvPr/>
        </p:nvSpPr>
        <p:spPr>
          <a:xfrm>
            <a:off x="7790538" y="3786188"/>
            <a:ext cx="635487" cy="2714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95" name="Shape 92"/>
          <p:cNvSpPr/>
          <p:nvPr/>
        </p:nvSpPr>
        <p:spPr>
          <a:xfrm>
            <a:off x="8418881" y="3786188"/>
            <a:ext cx="7144" cy="2714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6" name="Text 93"/>
          <p:cNvSpPr/>
          <p:nvPr/>
        </p:nvSpPr>
        <p:spPr>
          <a:xfrm>
            <a:off x="7790538" y="3786188"/>
            <a:ext cx="63548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Test</a:t>
            </a:r>
            <a:endParaRPr lang="en-US" sz="683" dirty="0"/>
          </a:p>
        </p:txBody>
      </p:sp>
      <p:sp>
        <p:nvSpPr>
          <p:cNvPr id="97" name="Text 94"/>
          <p:cNvSpPr/>
          <p:nvPr/>
        </p:nvSpPr>
        <p:spPr>
          <a:xfrm>
            <a:off x="8576072" y="3814763"/>
            <a:ext cx="282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FFFF"/>
                </a:solidFill>
              </a:rPr>
              <a:t>93%</a:t>
            </a:r>
            <a:endParaRPr lang="en-US" sz="1050" dirty="0"/>
          </a:p>
        </p:txBody>
      </p:sp>
      <p:sp>
        <p:nvSpPr>
          <p:cNvPr id="98" name="Text 95"/>
          <p:cNvSpPr/>
          <p:nvPr/>
        </p:nvSpPr>
        <p:spPr>
          <a:xfrm>
            <a:off x="4743450" y="4357688"/>
            <a:ext cx="4114800" cy="3500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Final Score: </a:t>
            </a:r>
            <a:r>
              <a:rPr lang="en-US" sz="1193" b="1" dirty="0">
                <a:solidFill>
                  <a:srgbClr val="22D3EE"/>
                </a:solidFill>
              </a:rPr>
              <a:t>91.8%</a:t>
            </a:r>
            <a:endParaRPr lang="en-US" sz="119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K-Fold Loop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What happens inside the code?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857250" y="1414463"/>
            <a:ext cx="74295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3"/>
          <p:cNvSpPr/>
          <p:nvPr/>
        </p:nvSpPr>
        <p:spPr>
          <a:xfrm>
            <a:off x="857250" y="1414463"/>
            <a:ext cx="28575" cy="5715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1557338"/>
            <a:ext cx="285750" cy="285750"/>
          </a:xfrm>
          <a:prstGeom prst="ellipse">
            <a:avLst/>
          </a:prstGeom>
          <a:solidFill>
            <a:srgbClr val="000000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4375" y="155733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FF"/>
                </a:solidFill>
              </a:rPr>
              <a:t>1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928688" y="1485900"/>
            <a:ext cx="728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Shuffle &amp; Split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928688" y="1714500"/>
            <a:ext cx="7286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Randomly shuffle the data and divide it into </a:t>
            </a:r>
            <a:r>
              <a:rPr lang="en-US" sz="942" dirty="0">
                <a:solidFill>
                  <a:srgbClr val="22D3EE"/>
                </a:solidFill>
              </a:rPr>
              <a:t>K equal groups</a:t>
            </a:r>
            <a:r>
              <a:rPr lang="en-US" sz="942" dirty="0">
                <a:solidFill>
                  <a:srgbClr val="9CA3AF"/>
                </a:solidFill>
              </a:rPr>
              <a:t> (folds).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857250" y="2057400"/>
            <a:ext cx="7429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↓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857250" y="2357438"/>
            <a:ext cx="74295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Shape 10"/>
          <p:cNvSpPr/>
          <p:nvPr/>
        </p:nvSpPr>
        <p:spPr>
          <a:xfrm>
            <a:off x="857250" y="2357438"/>
            <a:ext cx="28575" cy="57150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14375" y="2500313"/>
            <a:ext cx="285750" cy="285750"/>
          </a:xfrm>
          <a:prstGeom prst="ellipse">
            <a:avLst/>
          </a:prstGeom>
          <a:solidFill>
            <a:srgbClr val="000000"/>
          </a:solidFill>
          <a:ln w="18288">
            <a:solidFill>
              <a:srgbClr val="FF0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375" y="250031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FF"/>
                </a:solidFill>
              </a:rPr>
              <a:t>2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928688" y="2428875"/>
            <a:ext cx="728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Iterate K Times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928688" y="2657475"/>
            <a:ext cx="7286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For each fold: Make it the </a:t>
            </a:r>
            <a:r>
              <a:rPr lang="en-US" sz="885" b="1" dirty="0">
                <a:solidFill>
                  <a:srgbClr val="FF00FF"/>
                </a:solidFill>
              </a:rPr>
              <a:t>Test Set</a:t>
            </a:r>
            <a:r>
              <a:rPr lang="en-US" sz="942" dirty="0">
                <a:solidFill>
                  <a:srgbClr val="9CA3AF"/>
                </a:solidFill>
              </a:rPr>
              <a:t>. Use the other K-1 folds as the </a:t>
            </a:r>
            <a:r>
              <a:rPr lang="en-US" sz="885" b="1" dirty="0">
                <a:solidFill>
                  <a:srgbClr val="22D3EE"/>
                </a:solidFill>
              </a:rPr>
              <a:t>Training Set</a:t>
            </a:r>
            <a:r>
              <a:rPr lang="en-US" sz="942" dirty="0">
                <a:solidFill>
                  <a:srgbClr val="9CA3AF"/>
                </a:solidFill>
              </a:rPr>
              <a:t>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857250" y="3000375"/>
            <a:ext cx="7429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↓</a:t>
            </a:r>
            <a:endParaRPr lang="en-US" sz="1269" dirty="0"/>
          </a:p>
        </p:txBody>
      </p:sp>
      <p:sp>
        <p:nvSpPr>
          <p:cNvPr id="19" name="Shape 16"/>
          <p:cNvSpPr/>
          <p:nvPr/>
        </p:nvSpPr>
        <p:spPr>
          <a:xfrm>
            <a:off x="857250" y="3300413"/>
            <a:ext cx="74295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250" y="3300413"/>
            <a:ext cx="28575" cy="5715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14375" y="3443288"/>
            <a:ext cx="285750" cy="285750"/>
          </a:xfrm>
          <a:prstGeom prst="ellipse">
            <a:avLst/>
          </a:prstGeom>
          <a:solidFill>
            <a:srgbClr val="000000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4375" y="344328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FF"/>
                </a:solidFill>
              </a:rPr>
              <a:t>3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928688" y="3371850"/>
            <a:ext cx="728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Record Scores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928688" y="3600450"/>
            <a:ext cx="7286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Calculate the metric (e.g., Accuracy) for this specific split.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857250" y="3943350"/>
            <a:ext cx="7429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↓</a:t>
            </a:r>
            <a:endParaRPr lang="en-US" sz="1269" dirty="0"/>
          </a:p>
        </p:txBody>
      </p:sp>
      <p:sp>
        <p:nvSpPr>
          <p:cNvPr id="26" name="Shape 23"/>
          <p:cNvSpPr/>
          <p:nvPr/>
        </p:nvSpPr>
        <p:spPr>
          <a:xfrm>
            <a:off x="857250" y="4243388"/>
            <a:ext cx="74295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Shape 24"/>
          <p:cNvSpPr/>
          <p:nvPr/>
        </p:nvSpPr>
        <p:spPr>
          <a:xfrm>
            <a:off x="857250" y="4243388"/>
            <a:ext cx="28575" cy="571500"/>
          </a:xfrm>
          <a:prstGeom prst="rect">
            <a:avLst/>
          </a:prstGeom>
          <a:solidFill>
            <a:srgbClr val="00FF00"/>
          </a:solidFill>
          <a:ln/>
        </p:spPr>
      </p:sp>
      <p:sp>
        <p:nvSpPr>
          <p:cNvPr id="28" name="Shape 25"/>
          <p:cNvSpPr/>
          <p:nvPr/>
        </p:nvSpPr>
        <p:spPr>
          <a:xfrm>
            <a:off x="714375" y="4386263"/>
            <a:ext cx="285750" cy="285750"/>
          </a:xfrm>
          <a:prstGeom prst="ellipse">
            <a:avLst/>
          </a:prstGeom>
          <a:solidFill>
            <a:srgbClr val="000000"/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4375" y="438626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00"/>
                </a:solidFill>
              </a:rPr>
              <a:t>4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928688" y="4314825"/>
            <a:ext cx="7286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Average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928688" y="4543425"/>
            <a:ext cx="7286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Report the </a:t>
            </a:r>
            <a:r>
              <a:rPr lang="en-US" sz="885" b="1" dirty="0">
                <a:solidFill>
                  <a:srgbClr val="4ADE80"/>
                </a:solidFill>
              </a:rPr>
              <a:t>Mean</a:t>
            </a:r>
            <a:r>
              <a:rPr lang="en-US" sz="942" dirty="0">
                <a:solidFill>
                  <a:srgbClr val="9CA3AF"/>
                </a:solidFill>
              </a:rPr>
              <a:t> and </a:t>
            </a:r>
            <a:r>
              <a:rPr lang="en-US" sz="885" b="1" dirty="0">
                <a:solidFill>
                  <a:srgbClr val="4ADE80"/>
                </a:solidFill>
              </a:rPr>
              <a:t>Standard Deviation</a:t>
            </a:r>
            <a:r>
              <a:rPr lang="en-US" sz="942" dirty="0">
                <a:solidFill>
                  <a:srgbClr val="9CA3AF"/>
                </a:solidFill>
              </a:rPr>
              <a:t> of the scores.</a:t>
            </a:r>
            <a:endParaRPr lang="en-US" sz="94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Is it worth the wait?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CV takes 5x longer. Why do it?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414463"/>
            <a:ext cx="4114800" cy="10429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414463"/>
            <a:ext cx="4114800" cy="714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4"/>
          <p:cNvSpPr/>
          <p:nvPr/>
        </p:nvSpPr>
        <p:spPr>
          <a:xfrm>
            <a:off x="4393406" y="1414463"/>
            <a:ext cx="7144" cy="10429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2450306"/>
            <a:ext cx="4114800" cy="714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414463"/>
            <a:ext cx="28575" cy="10429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8" y="1543050"/>
            <a:ext cx="38576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2D3EE"/>
                </a:solidFill>
              </a:rPr>
              <a:t>1. Robustness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14338" y="1885950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It proves your model isn't just "lucky." If the score is stable across 5 folds, it's a stable model.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5750" y="2528888"/>
            <a:ext cx="4114800" cy="10429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2528888"/>
            <a:ext cx="4114800" cy="714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393406" y="2528888"/>
            <a:ext cx="7144" cy="104298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5" name="Shape 12"/>
          <p:cNvSpPr/>
          <p:nvPr/>
        </p:nvSpPr>
        <p:spPr>
          <a:xfrm>
            <a:off x="285750" y="3564731"/>
            <a:ext cx="4114800" cy="7144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2528888"/>
            <a:ext cx="28575" cy="1042988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7" name="Text 14"/>
          <p:cNvSpPr/>
          <p:nvPr/>
        </p:nvSpPr>
        <p:spPr>
          <a:xfrm>
            <a:off x="414338" y="2657475"/>
            <a:ext cx="38576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2. Data Efficiency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414338" y="3000375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Every single data point gets used for both training and testing eventually. Great for small datasets.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85750" y="3643313"/>
            <a:ext cx="4114800" cy="10429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3643313"/>
            <a:ext cx="4114800" cy="71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Shape 18"/>
          <p:cNvSpPr/>
          <p:nvPr/>
        </p:nvSpPr>
        <p:spPr>
          <a:xfrm>
            <a:off x="4393406" y="3643313"/>
            <a:ext cx="7144" cy="10429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Shape 19"/>
          <p:cNvSpPr/>
          <p:nvPr/>
        </p:nvSpPr>
        <p:spPr>
          <a:xfrm>
            <a:off x="285750" y="4679156"/>
            <a:ext cx="4114800" cy="71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0"/>
          <p:cNvSpPr/>
          <p:nvPr/>
        </p:nvSpPr>
        <p:spPr>
          <a:xfrm>
            <a:off x="285750" y="3643313"/>
            <a:ext cx="28575" cy="10429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414338" y="3771900"/>
            <a:ext cx="38576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2C55E"/>
                </a:solidFill>
              </a:rPr>
              <a:t>3. Tuning Foundation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414338" y="4114800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Essential for Grid Search. You can't tune hyperparameters on just one test set (that's cheating!).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0243" y="1414463"/>
            <a:ext cx="1141214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056" dirty="0">
                <a:solidFill>
                  <a:srgbClr val="FFFFFF"/>
                </a:solidFill>
              </a:rPr>
              <a:t>⚖️</a:t>
            </a:r>
            <a:endParaRPr lang="en-US" sz="7056" dirty="0"/>
          </a:p>
        </p:txBody>
      </p:sp>
      <p:sp>
        <p:nvSpPr>
          <p:cNvPr id="27" name="Text 24"/>
          <p:cNvSpPr/>
          <p:nvPr/>
        </p:nvSpPr>
        <p:spPr>
          <a:xfrm>
            <a:off x="6145048" y="2443163"/>
            <a:ext cx="13116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Trust &gt; Time</a:t>
            </a:r>
            <a:endParaRPr lang="en-US" sz="1499" dirty="0"/>
          </a:p>
        </p:txBody>
      </p:sp>
      <p:sp>
        <p:nvSpPr>
          <p:cNvPr id="28" name="Text 25"/>
          <p:cNvSpPr/>
          <p:nvPr/>
        </p:nvSpPr>
        <p:spPr>
          <a:xfrm>
            <a:off x="4743450" y="2757488"/>
            <a:ext cx="4114800" cy="400050"/>
          </a:xfrm>
          <a:prstGeom prst="rect">
            <a:avLst/>
          </a:prstGeom>
          <a:noFill/>
          <a:ln/>
        </p:spPr>
        <p:txBody>
          <a:bodyPr wrap="square" lIns="272161" tIns="0" rIns="272161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"You sleep better at night knowing your model works on </a:t>
            </a:r>
            <a:r>
              <a:rPr lang="en-US" sz="987" b="1" dirty="0">
                <a:solidFill>
                  <a:srgbClr val="FFFFFF"/>
                </a:solidFill>
              </a:rPr>
              <a:t>ALL</a:t>
            </a:r>
            <a:r>
              <a:rPr lang="en-US" sz="1050" dirty="0">
                <a:solidFill>
                  <a:srgbClr val="9CA3AF"/>
                </a:solidFill>
              </a:rPr>
              <a:t> parts of the data, not just the easy ones."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43450" y="3243263"/>
            <a:ext cx="4114800" cy="55721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The Cost:</a:t>
            </a:r>
            <a:r>
              <a:rPr lang="en-US" sz="834" dirty="0">
                <a:solidFill>
                  <a:srgbClr val="888888"/>
                </a:solidFill>
              </a:rPr>
              <a:t> Computation Time.
 (If training takes 1 week, maybe skip 10-fold CV!)</a:t>
            </a:r>
            <a:endParaRPr lang="en-US" sz="78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Stratified K-Fold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Keeping the balance.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6429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D1D5DB"/>
                </a:solidFill>
              </a:rPr>
              <a:t>What if a random split accidentally puts </a:t>
            </a:r>
            <a:r>
              <a:rPr lang="en-US" sz="1193" b="1" dirty="0">
                <a:solidFill>
                  <a:srgbClr val="FFFFFF"/>
                </a:solidFill>
              </a:rPr>
              <a:t>ALL</a:t>
            </a:r>
            <a:r>
              <a:rPr lang="en-US" sz="1269" dirty="0">
                <a:solidFill>
                  <a:srgbClr val="D1D5DB"/>
                </a:solidFill>
              </a:rPr>
              <a:t> the "Yes" cases into one fold?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198596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6B7280"/>
                </a:solidFill>
              </a:rPr>
              <a:t>Standard K-Fold (Random)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2778919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00"/>
                </a:solidFill>
              </a:rPr>
              <a:t>⚠ Fold 1 has 100% of the targets! The others have 0%. Model fails.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85750" y="3236119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Stratified K-Fold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300038" y="3579019"/>
            <a:ext cx="1711654" cy="4000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Shape 7"/>
          <p:cNvSpPr/>
          <p:nvPr/>
        </p:nvSpPr>
        <p:spPr>
          <a:xfrm>
            <a:off x="1997404" y="3579019"/>
            <a:ext cx="14288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2000250" y="3579019"/>
            <a:ext cx="1714500" cy="4000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9"/>
          <p:cNvSpPr/>
          <p:nvPr/>
        </p:nvSpPr>
        <p:spPr>
          <a:xfrm>
            <a:off x="3700463" y="3579019"/>
            <a:ext cx="14288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6155" y="3579019"/>
            <a:ext cx="1717346" cy="4000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Shape 11"/>
          <p:cNvSpPr/>
          <p:nvPr/>
        </p:nvSpPr>
        <p:spPr>
          <a:xfrm>
            <a:off x="5409214" y="3579019"/>
            <a:ext cx="14288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5417837" y="3579019"/>
            <a:ext cx="1720221" cy="4000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770" y="3579019"/>
            <a:ext cx="14288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5155" y="3579019"/>
            <a:ext cx="1708779" cy="4000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285750" y="4029075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00"/>
                </a:solidFill>
              </a:rPr>
              <a:t>✓ Every fold has exactly 20% targets. Perfect balance.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85750" y="4486275"/>
            <a:ext cx="8572500" cy="585788"/>
          </a:xfrm>
          <a:prstGeom prst="rect">
            <a:avLst/>
          </a:prstGeom>
          <a:solidFill>
            <a:srgbClr val="111827"/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5772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00FF"/>
                </a:solidFill>
              </a:rPr>
              <a:t>Rule:</a:t>
            </a:r>
            <a:r>
              <a:rPr lang="en-US" sz="1269" dirty="0">
                <a:solidFill>
                  <a:srgbClr val="FFFFFF"/>
                </a:solidFill>
              </a:rPr>
              <a:t> Always use Stratified K-Fold for Classification.</a:t>
            </a:r>
            <a:endParaRPr lang="en-US" sz="119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CV Pitfalls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Don't predict the past with the future.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14463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</a:rPr>
              <a:t>The Time Traveler Problem</a:t>
            </a:r>
            <a:endParaRPr lang="en-US" sz="1499" dirty="0"/>
          </a:p>
        </p:txBody>
      </p:sp>
      <p:sp>
        <p:nvSpPr>
          <p:cNvPr id="6" name="Text 3"/>
          <p:cNvSpPr/>
          <p:nvPr/>
        </p:nvSpPr>
        <p:spPr>
          <a:xfrm>
            <a:off x="285750" y="1785938"/>
            <a:ext cx="8572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Standard Cross-Validation </a:t>
            </a:r>
            <a:r>
              <a:rPr lang="en-US" sz="987" b="1" dirty="0">
                <a:solidFill>
                  <a:srgbClr val="22D3EE"/>
                </a:solidFill>
              </a:rPr>
              <a:t>shuffles</a:t>
            </a:r>
            <a:r>
              <a:rPr lang="en-US" sz="1050" dirty="0">
                <a:solidFill>
                  <a:srgbClr val="D1D5DB"/>
                </a:solidFill>
              </a:rPr>
              <a:t> data. If your data has a time component (e.g., Stock Prices), shuffling is dangerous.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34606" y="3143250"/>
            <a:ext cx="5312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Jan (Train)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317797" y="3143250"/>
            <a:ext cx="508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Feb (Test)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853591" y="3143250"/>
            <a:ext cx="5803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Mar (Train)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028825" y="1657350"/>
            <a:ext cx="5086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LEAKAGE!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285750" y="3271838"/>
            <a:ext cx="8572500" cy="1057275"/>
          </a:xfrm>
          <a:prstGeom prst="rect">
            <a:avLst/>
          </a:prstGeom>
          <a:solidFill>
            <a:srgbClr val="FF0000">
              <a:alpha val="10000"/>
            </a:srgbClr>
          </a:solidFill>
          <a:ln w="18288">
            <a:solidFill>
              <a:srgbClr val="F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3414713"/>
            <a:ext cx="828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⚠ The Mistake: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3700463"/>
            <a:ext cx="8286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Using data from </a:t>
            </a:r>
            <a:r>
              <a:rPr lang="en-US" sz="987" b="1" dirty="0">
                <a:solidFill>
                  <a:srgbClr val="FFFFFF"/>
                </a:solidFill>
              </a:rPr>
              <a:t>March</a:t>
            </a:r>
            <a:r>
              <a:rPr lang="en-US" sz="1050" dirty="0">
                <a:solidFill>
                  <a:srgbClr val="FFFFFF"/>
                </a:solidFill>
              </a:rPr>
              <a:t> to predict </a:t>
            </a:r>
            <a:r>
              <a:rPr lang="en-US" sz="987" b="1" dirty="0">
                <a:solidFill>
                  <a:srgbClr val="FFFFFF"/>
                </a:solidFill>
              </a:rPr>
              <a:t>February</a:t>
            </a:r>
            <a:r>
              <a:rPr lang="en-US" sz="1050" dirty="0">
                <a:solidFill>
                  <a:srgbClr val="FFFFFF"/>
                </a:solidFill>
              </a:rPr>
              <a:t>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8625" y="3957638"/>
            <a:ext cx="8286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In the real world, you can't see the future. Your model will fail in production.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285750" y="452913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Solution:</a:t>
            </a:r>
            <a:r>
              <a:rPr lang="en-US" sz="1269" dirty="0">
                <a:solidFill>
                  <a:srgbClr val="22D3EE"/>
                </a:solidFill>
              </a:rPr>
              <a:t> Use TimeSeriesSplit (Forward Chaining).</a:t>
            </a:r>
            <a:endParaRPr lang="en-US" sz="119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When NOT to use CV?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Sometimes simple is better.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14463"/>
            <a:ext cx="8001000" cy="7500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14463"/>
            <a:ext cx="42863" cy="75009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4"/>
          <p:cNvSpPr/>
          <p:nvPr/>
        </p:nvSpPr>
        <p:spPr>
          <a:xfrm>
            <a:off x="671513" y="1514475"/>
            <a:ext cx="78009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1. Massive Datasets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71513" y="1850231"/>
            <a:ext cx="7800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If you have 100 million rows, a single 80/20 split is statistically stable enough. CV is overkill and too slow.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2307431"/>
            <a:ext cx="8001000" cy="7500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307431"/>
            <a:ext cx="42863" cy="75009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71513" y="2407444"/>
            <a:ext cx="78009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2. Deep Learning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671513" y="2743200"/>
            <a:ext cx="7800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Training a neural network might take 3 days. Doing that 5 times (5-Fold CV) takes 2 weeks. Usually not feasible.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3200400"/>
            <a:ext cx="8001000" cy="7500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200400"/>
            <a:ext cx="42863" cy="75009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71513" y="3300413"/>
            <a:ext cx="78009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00"/>
                </a:solidFill>
              </a:rPr>
              <a:t>3. Streaming Data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671513" y="3636169"/>
            <a:ext cx="7800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If data changes every second (Concept Drift), a static CV score from yesterday is meaningless today.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4414838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2D3EE"/>
                </a:solidFill>
              </a:rPr>
              <a:t>Rule of Thumb: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71500" y="4700588"/>
            <a:ext cx="800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Use CV for </a:t>
            </a:r>
            <a:r>
              <a:rPr lang="en-US" sz="987" b="1" dirty="0">
                <a:solidFill>
                  <a:srgbClr val="FF00FF"/>
                </a:solidFill>
              </a:rPr>
              <a:t>Small to Medium</a:t>
            </a:r>
            <a:r>
              <a:rPr lang="en-US" sz="1050" dirty="0">
                <a:solidFill>
                  <a:srgbClr val="FFFFFF"/>
                </a:solidFill>
              </a:rPr>
              <a:t> datasets (e.g., &lt; 1M rows).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The Full Workflow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Putting it all together.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1450181" y="1860947"/>
            <a:ext cx="1785938" cy="7429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21619" y="1946672"/>
            <a:ext cx="1643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FFFF"/>
                </a:solidFill>
              </a:rPr>
              <a:t>1. Split Data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521619" y="2203847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80% Train / 20% Test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1521619" y="2375297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Lock Test set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5907881" y="1860947"/>
            <a:ext cx="1785938" cy="742950"/>
          </a:xfrm>
          <a:prstGeom prst="rect">
            <a:avLst/>
          </a:prstGeom>
          <a:solidFill>
            <a:srgbClr val="111111"/>
          </a:solidFill>
          <a:ln w="18288">
            <a:solidFill>
              <a:srgbClr val="FF00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979319" y="1939528"/>
            <a:ext cx="1643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00FF"/>
                </a:solidFill>
              </a:rPr>
              <a:t>2. Cross-Validation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979319" y="2196703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Tune &amp; Experiment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979319" y="2368153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Use Training Set only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1450181" y="3661172"/>
            <a:ext cx="1785938" cy="7429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21619" y="3746897"/>
            <a:ext cx="1643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FFFF"/>
                </a:solidFill>
              </a:rPr>
              <a:t>3. Final Training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521619" y="4004072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Retrain on ALL Train Data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1521619" y="4175522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Train on full 80%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907881" y="3661172"/>
            <a:ext cx="1785938" cy="7429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79319" y="3754041"/>
            <a:ext cx="1643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FF00"/>
                </a:solidFill>
              </a:rPr>
              <a:t>4. Final Test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979319" y="4011216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Unlock the Vault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979319" y="4182666"/>
            <a:ext cx="16430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Evaluate once on 20% Test</a:t>
            </a:r>
            <a:endParaRPr lang="en-US" sz="72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Reporting Results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Don't just give me a number.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935956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00FF"/>
                </a:solidFill>
              </a:rPr>
              <a:t>The Amateur Way</a:t>
            </a:r>
            <a:endParaRPr lang="en-US" sz="1499" dirty="0"/>
          </a:p>
        </p:txBody>
      </p:sp>
      <p:sp>
        <p:nvSpPr>
          <p:cNvPr id="6" name="Text 3"/>
          <p:cNvSpPr/>
          <p:nvPr/>
        </p:nvSpPr>
        <p:spPr>
          <a:xfrm>
            <a:off x="285750" y="2307431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strike="sngStrike" dirty="0">
                <a:solidFill>
                  <a:srgbClr val="888888">
                    <a:alpha val="50000"/>
                  </a:srgbClr>
                </a:solidFill>
              </a:rPr>
              <a:t>"My model has 92% accuracy."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285750" y="2707481"/>
            <a:ext cx="40576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(Is that good? Is it stable? What about false alarms?)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3136106"/>
            <a:ext cx="4057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22D3EE"/>
                </a:solidFill>
              </a:rPr>
              <a:t>The Pro Way</a:t>
            </a:r>
            <a:endParaRPr lang="en-US" sz="1499" dirty="0"/>
          </a:p>
        </p:txBody>
      </p:sp>
      <p:sp>
        <p:nvSpPr>
          <p:cNvPr id="9" name="Text 6"/>
          <p:cNvSpPr/>
          <p:nvPr/>
        </p:nvSpPr>
        <p:spPr>
          <a:xfrm>
            <a:off x="285750" y="3509367"/>
            <a:ext cx="9062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1. Report the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92030" y="3509367"/>
            <a:ext cx="6032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2D3EE"/>
                </a:solidFill>
              </a:rPr>
              <a:t>Baseline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795258" y="3509367"/>
            <a:ext cx="7839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(Guessing).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5750" y="3823692"/>
            <a:ext cx="9062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2. Report the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92030" y="3823692"/>
            <a:ext cx="6228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2D3EE"/>
                </a:solidFill>
              </a:rPr>
              <a:t>Variance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1814847" y="3823692"/>
            <a:ext cx="242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(±).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85750" y="4138017"/>
            <a:ext cx="9062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3. Report the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92030" y="4138017"/>
            <a:ext cx="11250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2D3EE"/>
                </a:solidFill>
              </a:rPr>
              <a:t>Business Metric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317031" y="4138017"/>
            <a:ext cx="12148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(Recall/Precision).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rot="-60000">
            <a:off x="4800600" y="1832372"/>
            <a:ext cx="4057650" cy="26074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 rot="-60000">
            <a:off x="4999640" y="2046818"/>
            <a:ext cx="3629025" cy="428625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Model Performance Report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 rot="-60000">
            <a:off x="5008242" y="2632523"/>
            <a:ext cx="19926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Baseline (Majority Class):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 rot="-60000">
            <a:off x="8154253" y="2590788"/>
            <a:ext cx="482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65.0%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 rot="-60000">
            <a:off x="5014625" y="2999630"/>
            <a:ext cx="166823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Model Accuracy (CV):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 rot="-60000">
            <a:off x="7559047" y="2960313"/>
            <a:ext cx="108426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92.0% ± 1.5%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 rot="-60000">
            <a:off x="5021005" y="3366353"/>
            <a:ext cx="13877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Precision (Fraud):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 rot="-60000">
            <a:off x="8152070" y="3319469"/>
            <a:ext cx="4975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88.5%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 rot="-60000">
            <a:off x="5027384" y="3732899"/>
            <a:ext cx="11276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Recall (Fraud):</a:t>
            </a:r>
            <a:endParaRPr lang="en-US" sz="1269" dirty="0"/>
          </a:p>
        </p:txBody>
      </p:sp>
      <p:sp>
        <p:nvSpPr>
          <p:cNvPr id="27" name="Text 24"/>
          <p:cNvSpPr/>
          <p:nvPr/>
        </p:nvSpPr>
        <p:spPr>
          <a:xfrm rot="-60000">
            <a:off x="8158428" y="3683745"/>
            <a:ext cx="4975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95.0%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 rot="-60000">
            <a:off x="5032679" y="4082498"/>
            <a:ext cx="36290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4B5563"/>
                </a:solidFill>
              </a:rPr>
              <a:t>*Optimized for Recall to minimize missed fraud cases.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 rot="-960000">
            <a:off x="7354586" y="1954205"/>
            <a:ext cx="1344895" cy="52149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99" b="1" dirty="0">
                <a:solidFill>
                  <a:srgbClr val="00AA00">
                    <a:alpha val="80000"/>
                  </a:srgbClr>
                </a:solidFill>
              </a:rPr>
              <a:t>APPROVED</a:t>
            </a:r>
            <a:endParaRPr lang="en-US" sz="149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Common Pitfalls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How to fail.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1650206"/>
            <a:ext cx="42862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705" dirty="0">
                <a:solidFill>
                  <a:srgbClr val="FFFFFF"/>
                </a:solidFill>
              </a:rPr>
              <a:t>⚖️</a:t>
            </a:r>
            <a:endParaRPr lang="en-US" sz="2705" dirty="0"/>
          </a:p>
        </p:txBody>
      </p:sp>
      <p:sp>
        <p:nvSpPr>
          <p:cNvPr id="6" name="Text 3"/>
          <p:cNvSpPr/>
          <p:nvPr/>
        </p:nvSpPr>
        <p:spPr>
          <a:xfrm>
            <a:off x="1214438" y="1643063"/>
            <a:ext cx="7358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The Accuracy Trap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214438" y="1978819"/>
            <a:ext cx="7358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Celebrating 99% accuracy on a dataset with 99% negative cases. Your model learned nothing.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636044"/>
            <a:ext cx="42862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705" dirty="0">
                <a:solidFill>
                  <a:srgbClr val="FFFFFF"/>
                </a:solidFill>
              </a:rPr>
              <a:t>⏳</a:t>
            </a:r>
            <a:endParaRPr lang="en-US" sz="2705" dirty="0"/>
          </a:p>
        </p:txBody>
      </p:sp>
      <p:sp>
        <p:nvSpPr>
          <p:cNvPr id="9" name="Text 6"/>
          <p:cNvSpPr/>
          <p:nvPr/>
        </p:nvSpPr>
        <p:spPr>
          <a:xfrm>
            <a:off x="1214438" y="2628900"/>
            <a:ext cx="7358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Data Leakage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1214438" y="2964656"/>
            <a:ext cx="7358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Using future data to predict the past, or normalizing the entire dataset before splitting.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621881"/>
            <a:ext cx="428625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705" dirty="0">
                <a:solidFill>
                  <a:srgbClr val="FFFFFF"/>
                </a:solidFill>
              </a:rPr>
              <a:t>📉</a:t>
            </a:r>
            <a:endParaRPr lang="en-US" sz="2705" dirty="0"/>
          </a:p>
        </p:txBody>
      </p:sp>
      <p:sp>
        <p:nvSpPr>
          <p:cNvPr id="12" name="Text 9"/>
          <p:cNvSpPr/>
          <p:nvPr/>
        </p:nvSpPr>
        <p:spPr>
          <a:xfrm>
            <a:off x="1214438" y="3614738"/>
            <a:ext cx="7358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00FF"/>
                </a:solidFill>
              </a:rPr>
              <a:t>Ignoring the Baseline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1214438" y="3950494"/>
            <a:ext cx="7358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"My model has 60% accuracy!" (But a random coin flip gets 50%... so you barely improved anything).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Key Takeaways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What to remember.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605558"/>
            <a:ext cx="1592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FFFF"/>
                </a:solidFill>
              </a:rPr>
              <a:t>1.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600410" y="1605558"/>
            <a:ext cx="206967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00FF"/>
                </a:solidFill>
              </a:rPr>
              <a:t>Accuracy is dangerous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546078" y="1908733"/>
            <a:ext cx="3723149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on imbalanced data. Use Precision/Recall instead.</a:t>
            </a:r>
            <a:endParaRPr lang="en-US" sz="1377" dirty="0"/>
          </a:p>
        </p:txBody>
      </p:sp>
      <p:sp>
        <p:nvSpPr>
          <p:cNvPr id="8" name="Text 5"/>
          <p:cNvSpPr/>
          <p:nvPr/>
        </p:nvSpPr>
        <p:spPr>
          <a:xfrm>
            <a:off x="285750" y="2377083"/>
            <a:ext cx="1592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FFFF"/>
                </a:solidFill>
              </a:rPr>
              <a:t>2.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600410" y="2377083"/>
            <a:ext cx="150484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22D3EE"/>
                </a:solidFill>
              </a:rPr>
              <a:t>Cross-Validation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588341" y="2672493"/>
            <a:ext cx="4038144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is mandatory. Don't trust a single lucky split.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285750" y="3148608"/>
            <a:ext cx="1592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FFFF"/>
                </a:solidFill>
              </a:rPr>
              <a:t>3.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00410" y="3148608"/>
            <a:ext cx="141867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Understand the</a:t>
            </a:r>
            <a:endParaRPr lang="en-US" sz="1377" dirty="0"/>
          </a:p>
        </p:txBody>
      </p:sp>
      <p:sp>
        <p:nvSpPr>
          <p:cNvPr id="13" name="Text 10"/>
          <p:cNvSpPr/>
          <p:nvPr/>
        </p:nvSpPr>
        <p:spPr>
          <a:xfrm>
            <a:off x="2019086" y="3148608"/>
            <a:ext cx="77713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Tradeoff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519115" y="3452218"/>
            <a:ext cx="3861364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. You can't have perfect Precision and Recall.</a:t>
            </a:r>
            <a:endParaRPr lang="en-US" sz="1377" dirty="0"/>
          </a:p>
        </p:txBody>
      </p:sp>
      <p:sp>
        <p:nvSpPr>
          <p:cNvPr id="15" name="Text 12"/>
          <p:cNvSpPr/>
          <p:nvPr/>
        </p:nvSpPr>
        <p:spPr>
          <a:xfrm>
            <a:off x="285750" y="3920133"/>
            <a:ext cx="1592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FFFF"/>
                </a:solidFill>
              </a:rPr>
              <a:t>4.</a:t>
            </a:r>
            <a:endParaRPr lang="en-US" sz="1295" dirty="0"/>
          </a:p>
        </p:txBody>
      </p:sp>
      <p:sp>
        <p:nvSpPr>
          <p:cNvPr id="16" name="Text 13"/>
          <p:cNvSpPr/>
          <p:nvPr/>
        </p:nvSpPr>
        <p:spPr>
          <a:xfrm>
            <a:off x="600410" y="3920133"/>
            <a:ext cx="142222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Always beat the</a:t>
            </a:r>
            <a:endParaRPr lang="en-US" sz="1377" dirty="0"/>
          </a:p>
        </p:txBody>
      </p:sp>
      <p:sp>
        <p:nvSpPr>
          <p:cNvPr id="17" name="Text 14"/>
          <p:cNvSpPr/>
          <p:nvPr/>
        </p:nvSpPr>
        <p:spPr>
          <a:xfrm>
            <a:off x="2022630" y="3920133"/>
            <a:ext cx="78419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Baseline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519115" y="4236144"/>
            <a:ext cx="4018136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77" dirty="0">
                <a:solidFill>
                  <a:srgbClr val="FFFFFF"/>
                </a:solidFill>
              </a:rPr>
              <a:t>. If you can't beat a coin flip, go back to the drawing board.</a:t>
            </a:r>
            <a:endParaRPr lang="en-US" sz="1377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kern="0" spc="1" dirty="0">
                <a:solidFill>
                  <a:srgbClr val="00FFFF"/>
                </a:solidFill>
              </a:rPr>
              <a:t>Lab Preview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871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FF00FF"/>
                </a:solidFill>
              </a:rPr>
              <a:t>Module 07 Lab: Model Evaluation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285750" y="1450181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D1D5DB"/>
                </a:solidFill>
              </a:rPr>
              <a:t>In this lab, we will go beyond simple accuracy using the Titanic dataset.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85750" y="2135981"/>
            <a:ext cx="26789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00FFFF"/>
                </a:solidFill>
              </a:rPr>
              <a:t>💻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660797" y="2168128"/>
            <a:ext cx="27361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Train a Logistic Regression model.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285750" y="2600325"/>
            <a:ext cx="26789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00FFFF"/>
                </a:solidFill>
              </a:rPr>
              <a:t>📊</a:t>
            </a:r>
            <a:endParaRPr lang="en-US" sz="1595" dirty="0"/>
          </a:p>
        </p:txBody>
      </p:sp>
      <p:sp>
        <p:nvSpPr>
          <p:cNvPr id="9" name="Text 6"/>
          <p:cNvSpPr/>
          <p:nvPr/>
        </p:nvSpPr>
        <p:spPr>
          <a:xfrm>
            <a:off x="660797" y="2632472"/>
            <a:ext cx="24543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Generate a </a:t>
            </a:r>
            <a:r>
              <a:rPr lang="en-US" sz="1193" b="1" dirty="0">
                <a:solidFill>
                  <a:srgbClr val="FF00FF"/>
                </a:solidFill>
              </a:rPr>
              <a:t>Confusion Matrix</a:t>
            </a:r>
            <a:r>
              <a:rPr lang="en-US" sz="1269" dirty="0">
                <a:solidFill>
                  <a:srgbClr val="E0E0E0"/>
                </a:solidFill>
              </a:rPr>
              <a:t>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285750" y="3064669"/>
            <a:ext cx="26789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00FFFF"/>
                </a:solidFill>
              </a:rPr>
              <a:t>📈</a:t>
            </a:r>
            <a:endParaRPr lang="en-US" sz="1595" dirty="0"/>
          </a:p>
        </p:txBody>
      </p:sp>
      <p:sp>
        <p:nvSpPr>
          <p:cNvPr id="11" name="Text 8"/>
          <p:cNvSpPr/>
          <p:nvPr/>
        </p:nvSpPr>
        <p:spPr>
          <a:xfrm>
            <a:off x="660797" y="3096816"/>
            <a:ext cx="295377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Plot the </a:t>
            </a:r>
            <a:r>
              <a:rPr lang="en-US" sz="1193" b="1" dirty="0">
                <a:solidFill>
                  <a:srgbClr val="22D3EE"/>
                </a:solidFill>
              </a:rPr>
              <a:t>ROC Curve</a:t>
            </a:r>
            <a:r>
              <a:rPr lang="en-US" sz="1269" dirty="0">
                <a:solidFill>
                  <a:srgbClr val="E0E0E0"/>
                </a:solidFill>
              </a:rPr>
              <a:t> &amp; Calculate AUC.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285750" y="3529013"/>
            <a:ext cx="26789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95" dirty="0">
                <a:solidFill>
                  <a:srgbClr val="00FFFF"/>
                </a:solidFill>
              </a:rPr>
              <a:t>🔄</a:t>
            </a:r>
            <a:endParaRPr lang="en-US" sz="1595" dirty="0"/>
          </a:p>
        </p:txBody>
      </p:sp>
      <p:sp>
        <p:nvSpPr>
          <p:cNvPr id="13" name="Text 10"/>
          <p:cNvSpPr/>
          <p:nvPr/>
        </p:nvSpPr>
        <p:spPr>
          <a:xfrm>
            <a:off x="660797" y="3561159"/>
            <a:ext cx="34269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Implement </a:t>
            </a:r>
            <a:r>
              <a:rPr lang="en-US" sz="1193" b="1" dirty="0">
                <a:solidFill>
                  <a:srgbClr val="FFFFFF"/>
                </a:solidFill>
              </a:rPr>
              <a:t>Cross-Validation</a:t>
            </a:r>
            <a:r>
              <a:rPr lang="en-US" sz="1269" dirty="0">
                <a:solidFill>
                  <a:srgbClr val="E0E0E0"/>
                </a:solidFill>
              </a:rPr>
              <a:t> from scratch.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285750" y="4193381"/>
            <a:ext cx="4114800" cy="6286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Shape 12"/>
          <p:cNvSpPr/>
          <p:nvPr/>
        </p:nvSpPr>
        <p:spPr>
          <a:xfrm>
            <a:off x="285750" y="4193381"/>
            <a:ext cx="28575" cy="6286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400050" y="4307681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9CA3AF"/>
                </a:solidFill>
              </a:rPr>
              <a:t>"You will see exactly why Accuracy is misleading for the Titanic survival prediction."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2372</Words>
  <Application>Microsoft Office PowerPoint</Application>
  <PresentationFormat>On-screen Show (16:9)</PresentationFormat>
  <Paragraphs>446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viswanatha.rao</cp:lastModifiedBy>
  <cp:revision>5</cp:revision>
  <dcterms:created xsi:type="dcterms:W3CDTF">2026-01-06T08:56:22Z</dcterms:created>
  <dcterms:modified xsi:type="dcterms:W3CDTF">2026-03-26T00:14:41Z</dcterms:modified>
</cp:coreProperties>
</file>